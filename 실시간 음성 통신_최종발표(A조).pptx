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useo Moderno" charset="1" panose="00000000000000000000"/>
      <p:regular r:id="rId23"/>
    </p:embeddedFont>
    <p:embeddedFont>
      <p:font typeface="Montserrat" charset="1" panose="00000500000000000000"/>
      <p:regular r:id="rId24"/>
    </p:embeddedFont>
    <p:embeddedFont>
      <p:font typeface="210 국민체조" charset="1" panose="02020603020101020101"/>
      <p:regular r:id="rId25"/>
    </p:embeddedFont>
    <p:embeddedFont>
      <p:font typeface="Open Sauce" charset="1" panose="00000500000000000000"/>
      <p:regular r:id="rId26"/>
    </p:embeddedFont>
    <p:embeddedFont>
      <p:font typeface="Canva Sans" charset="1" panose="020B0503030501040103"/>
      <p:regular r:id="rId27"/>
    </p:embeddedFont>
    <p:embeddedFont>
      <p:font typeface="Canva Sans Bold" charset="1" panose="020B0803030501040103"/>
      <p:regular r:id="rId28"/>
    </p:embeddedFont>
    <p:embeddedFont>
      <p:font typeface="Tlab 돋움 미디움" charset="1" panose="02060600000000000000"/>
      <p:regular r:id="rId29"/>
    </p:embeddedFont>
    <p:embeddedFont>
      <p:font typeface="Montserrat Bold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30.png" Type="http://schemas.openxmlformats.org/officeDocument/2006/relationships/image"/><Relationship Id="rId18" Target="../media/image31.sv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314" t="-27670" r="0" b="-385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7714" y="4260960"/>
            <a:ext cx="1551257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spc="5599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실시간음성통신암호화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06116" y="6071277"/>
            <a:ext cx="3275768" cy="4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sz="2526" spc="1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16433" y="9160292"/>
            <a:ext cx="646764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한국폴리텍대학 강서캠퍼스 사이버보안과 A조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88850" y="8998740"/>
            <a:ext cx="858836" cy="81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sz="16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방진혁</a:t>
            </a:r>
          </a:p>
          <a:p>
            <a:pPr algn="ctr">
              <a:lnSpc>
                <a:spcPts val="2246"/>
              </a:lnSpc>
            </a:pPr>
            <a:r>
              <a:rPr lang="en-US" sz="16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강승윤</a:t>
            </a:r>
          </a:p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sz="16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고승원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6800" y="2773244"/>
            <a:ext cx="7271140" cy="698416"/>
            <a:chOff x="0" y="0"/>
            <a:chExt cx="4230989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0989" cy="406400"/>
            </a:xfrm>
            <a:custGeom>
              <a:avLst/>
              <a:gdLst/>
              <a:ahLst/>
              <a:cxnLst/>
              <a:rect r="r" b="b" t="t" l="l"/>
              <a:pathLst>
                <a:path h="406400" w="4230989">
                  <a:moveTo>
                    <a:pt x="4027789" y="0"/>
                  </a:moveTo>
                  <a:cubicBezTo>
                    <a:pt x="4140014" y="0"/>
                    <a:pt x="4230989" y="90976"/>
                    <a:pt x="4230989" y="203200"/>
                  </a:cubicBezTo>
                  <a:cubicBezTo>
                    <a:pt x="4230989" y="315424"/>
                    <a:pt x="4140014" y="406400"/>
                    <a:pt x="40277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CBF22"/>
            </a:solidFill>
            <a:ln w="28575" cap="sq">
              <a:solidFill>
                <a:srgbClr val="9F121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309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39749" indent="-269875" lvl="1">
                <a:lnSpc>
                  <a:spcPts val="3499"/>
                </a:lnSpc>
                <a:buAutoNum type="arabicPeriod" startAt="1"/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개요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6800" y="4577503"/>
            <a:ext cx="7271140" cy="698416"/>
            <a:chOff x="0" y="0"/>
            <a:chExt cx="423098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30989" cy="406400"/>
            </a:xfrm>
            <a:custGeom>
              <a:avLst/>
              <a:gdLst/>
              <a:ahLst/>
              <a:cxnLst/>
              <a:rect r="r" b="b" t="t" l="l"/>
              <a:pathLst>
                <a:path h="406400" w="4230989">
                  <a:moveTo>
                    <a:pt x="4027789" y="0"/>
                  </a:moveTo>
                  <a:cubicBezTo>
                    <a:pt x="4140014" y="0"/>
                    <a:pt x="4230989" y="90976"/>
                    <a:pt x="4230989" y="203200"/>
                  </a:cubicBezTo>
                  <a:cubicBezTo>
                    <a:pt x="4230989" y="315424"/>
                    <a:pt x="4140014" y="406400"/>
                    <a:pt x="40277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CBF22"/>
            </a:solidFill>
            <a:ln w="28575" cap="sq">
              <a:solidFill>
                <a:srgbClr val="9F121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2309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2. 추진 배경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6800" y="6381761"/>
            <a:ext cx="7271140" cy="698416"/>
            <a:chOff x="0" y="0"/>
            <a:chExt cx="423098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0989" cy="406400"/>
            </a:xfrm>
            <a:custGeom>
              <a:avLst/>
              <a:gdLst/>
              <a:ahLst/>
              <a:cxnLst/>
              <a:rect r="r" b="b" t="t" l="l"/>
              <a:pathLst>
                <a:path h="406400" w="4230989">
                  <a:moveTo>
                    <a:pt x="4027789" y="0"/>
                  </a:moveTo>
                  <a:cubicBezTo>
                    <a:pt x="4140014" y="0"/>
                    <a:pt x="4230989" y="90976"/>
                    <a:pt x="4230989" y="203200"/>
                  </a:cubicBezTo>
                  <a:cubicBezTo>
                    <a:pt x="4230989" y="315424"/>
                    <a:pt x="4140014" y="406400"/>
                    <a:pt x="40277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CBF22"/>
            </a:solidFill>
            <a:ln w="28575" cap="sq">
              <a:solidFill>
                <a:srgbClr val="9F121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2309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3. 프로젝트 팀 구성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6800" y="8186019"/>
            <a:ext cx="7271140" cy="698416"/>
            <a:chOff x="0" y="0"/>
            <a:chExt cx="4230989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30989" cy="406400"/>
            </a:xfrm>
            <a:custGeom>
              <a:avLst/>
              <a:gdLst/>
              <a:ahLst/>
              <a:cxnLst/>
              <a:rect r="r" b="b" t="t" l="l"/>
              <a:pathLst>
                <a:path h="406400" w="4230989">
                  <a:moveTo>
                    <a:pt x="4027789" y="0"/>
                  </a:moveTo>
                  <a:cubicBezTo>
                    <a:pt x="4140014" y="0"/>
                    <a:pt x="4230989" y="90976"/>
                    <a:pt x="4230989" y="203200"/>
                  </a:cubicBezTo>
                  <a:cubicBezTo>
                    <a:pt x="4230989" y="315424"/>
                    <a:pt x="4140014" y="406400"/>
                    <a:pt x="40277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CBF22"/>
            </a:solidFill>
            <a:ln w="28575" cap="sq">
              <a:solidFill>
                <a:srgbClr val="9F121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2309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4. 프로젝트 구성도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72392" y="2773244"/>
            <a:ext cx="7271140" cy="698416"/>
            <a:chOff x="0" y="0"/>
            <a:chExt cx="4230989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30989" cy="406400"/>
            </a:xfrm>
            <a:custGeom>
              <a:avLst/>
              <a:gdLst/>
              <a:ahLst/>
              <a:cxnLst/>
              <a:rect r="r" b="b" t="t" l="l"/>
              <a:pathLst>
                <a:path h="406400" w="4230989">
                  <a:moveTo>
                    <a:pt x="4027789" y="0"/>
                  </a:moveTo>
                  <a:cubicBezTo>
                    <a:pt x="4140014" y="0"/>
                    <a:pt x="4230989" y="90976"/>
                    <a:pt x="4230989" y="203200"/>
                  </a:cubicBezTo>
                  <a:cubicBezTo>
                    <a:pt x="4230989" y="315424"/>
                    <a:pt x="4140014" y="406400"/>
                    <a:pt x="40277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CBF22"/>
            </a:solidFill>
            <a:ln w="28575" cap="sq">
              <a:solidFill>
                <a:srgbClr val="9F121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2309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5. 프로젝트 범위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72392" y="4577503"/>
            <a:ext cx="7271140" cy="698416"/>
            <a:chOff x="0" y="0"/>
            <a:chExt cx="4230989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30989" cy="406400"/>
            </a:xfrm>
            <a:custGeom>
              <a:avLst/>
              <a:gdLst/>
              <a:ahLst/>
              <a:cxnLst/>
              <a:rect r="r" b="b" t="t" l="l"/>
              <a:pathLst>
                <a:path h="406400" w="4230989">
                  <a:moveTo>
                    <a:pt x="4027789" y="0"/>
                  </a:moveTo>
                  <a:cubicBezTo>
                    <a:pt x="4140014" y="0"/>
                    <a:pt x="4230989" y="90976"/>
                    <a:pt x="4230989" y="203200"/>
                  </a:cubicBezTo>
                  <a:cubicBezTo>
                    <a:pt x="4230989" y="315424"/>
                    <a:pt x="4140014" y="406400"/>
                    <a:pt x="40277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CBF22"/>
            </a:solidFill>
            <a:ln w="28575" cap="sq">
              <a:solidFill>
                <a:srgbClr val="9F121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2309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6. 프로젝트 일정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72392" y="6381761"/>
            <a:ext cx="7271140" cy="698416"/>
            <a:chOff x="0" y="0"/>
            <a:chExt cx="4230989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30989" cy="406400"/>
            </a:xfrm>
            <a:custGeom>
              <a:avLst/>
              <a:gdLst/>
              <a:ahLst/>
              <a:cxnLst/>
              <a:rect r="r" b="b" t="t" l="l"/>
              <a:pathLst>
                <a:path h="406400" w="4230989">
                  <a:moveTo>
                    <a:pt x="4027789" y="0"/>
                  </a:moveTo>
                  <a:cubicBezTo>
                    <a:pt x="4140014" y="0"/>
                    <a:pt x="4230989" y="90976"/>
                    <a:pt x="4230989" y="203200"/>
                  </a:cubicBezTo>
                  <a:cubicBezTo>
                    <a:pt x="4230989" y="315424"/>
                    <a:pt x="4140014" y="406400"/>
                    <a:pt x="40277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CBF22"/>
            </a:solidFill>
            <a:ln w="28575" cap="sq">
              <a:solidFill>
                <a:srgbClr val="9F121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2309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7. 결과 시연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72392" y="8186019"/>
            <a:ext cx="7271140" cy="698416"/>
            <a:chOff x="0" y="0"/>
            <a:chExt cx="4230989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30989" cy="406400"/>
            </a:xfrm>
            <a:custGeom>
              <a:avLst/>
              <a:gdLst/>
              <a:ahLst/>
              <a:cxnLst/>
              <a:rect r="r" b="b" t="t" l="l"/>
              <a:pathLst>
                <a:path h="406400" w="4230989">
                  <a:moveTo>
                    <a:pt x="4027789" y="0"/>
                  </a:moveTo>
                  <a:cubicBezTo>
                    <a:pt x="4140014" y="0"/>
                    <a:pt x="4230989" y="90976"/>
                    <a:pt x="4230989" y="203200"/>
                  </a:cubicBezTo>
                  <a:cubicBezTo>
                    <a:pt x="4230989" y="315424"/>
                    <a:pt x="4140014" y="406400"/>
                    <a:pt x="40277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CBF22"/>
            </a:solidFill>
            <a:ln w="28575" cap="sq">
              <a:solidFill>
                <a:srgbClr val="9F121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2309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8. Q &amp; A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3502275" y="1382418"/>
            <a:ext cx="3266890" cy="8844372"/>
          </a:xfrm>
          <a:custGeom>
            <a:avLst/>
            <a:gdLst/>
            <a:ahLst/>
            <a:cxnLst/>
            <a:rect r="r" b="b" t="t" l="l"/>
            <a:pathLst>
              <a:path h="8844372" w="3266890">
                <a:moveTo>
                  <a:pt x="0" y="0"/>
                </a:moveTo>
                <a:lnTo>
                  <a:pt x="3266890" y="0"/>
                </a:lnTo>
                <a:lnTo>
                  <a:pt x="3266890" y="8844372"/>
                </a:lnTo>
                <a:lnTo>
                  <a:pt x="0" y="8844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49590" y="1028700"/>
            <a:ext cx="1260435" cy="1260435"/>
          </a:xfrm>
          <a:custGeom>
            <a:avLst/>
            <a:gdLst/>
            <a:ahLst/>
            <a:cxnLst/>
            <a:rect r="r" b="b" t="t" l="l"/>
            <a:pathLst>
              <a:path h="1260435" w="1260435">
                <a:moveTo>
                  <a:pt x="0" y="0"/>
                </a:moveTo>
                <a:lnTo>
                  <a:pt x="1260435" y="0"/>
                </a:lnTo>
                <a:lnTo>
                  <a:pt x="1260435" y="1260435"/>
                </a:lnTo>
                <a:lnTo>
                  <a:pt x="0" y="12604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505284" y="1086469"/>
            <a:ext cx="4985046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73707" y="0"/>
            <a:ext cx="8014293" cy="10287000"/>
            <a:chOff x="0" y="0"/>
            <a:chExt cx="211076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076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10760">
                  <a:moveTo>
                    <a:pt x="0" y="0"/>
                  </a:moveTo>
                  <a:lnTo>
                    <a:pt x="2110760" y="0"/>
                  </a:lnTo>
                  <a:lnTo>
                    <a:pt x="21107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F121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076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02920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888076"/>
            <a:ext cx="7455881" cy="615110"/>
          </a:xfrm>
          <a:custGeom>
            <a:avLst/>
            <a:gdLst/>
            <a:ahLst/>
            <a:cxnLst/>
            <a:rect r="r" b="b" t="t" l="l"/>
            <a:pathLst>
              <a:path h="615110" w="7455881">
                <a:moveTo>
                  <a:pt x="0" y="0"/>
                </a:moveTo>
                <a:lnTo>
                  <a:pt x="7455881" y="0"/>
                </a:lnTo>
                <a:lnTo>
                  <a:pt x="7455881" y="615110"/>
                </a:lnTo>
                <a:lnTo>
                  <a:pt x="0" y="61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6800" y="3832370"/>
            <a:ext cx="8107200" cy="597906"/>
          </a:xfrm>
          <a:custGeom>
            <a:avLst/>
            <a:gdLst/>
            <a:ahLst/>
            <a:cxnLst/>
            <a:rect r="r" b="b" t="t" l="l"/>
            <a:pathLst>
              <a:path h="597906" w="8107200">
                <a:moveTo>
                  <a:pt x="0" y="0"/>
                </a:moveTo>
                <a:lnTo>
                  <a:pt x="8107200" y="0"/>
                </a:lnTo>
                <a:lnTo>
                  <a:pt x="8107200" y="597906"/>
                </a:lnTo>
                <a:lnTo>
                  <a:pt x="0" y="597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6800" y="4868426"/>
            <a:ext cx="7999438" cy="879938"/>
          </a:xfrm>
          <a:custGeom>
            <a:avLst/>
            <a:gdLst/>
            <a:ahLst/>
            <a:cxnLst/>
            <a:rect r="r" b="b" t="t" l="l"/>
            <a:pathLst>
              <a:path h="879938" w="7999438">
                <a:moveTo>
                  <a:pt x="0" y="0"/>
                </a:moveTo>
                <a:lnTo>
                  <a:pt x="7999438" y="0"/>
                </a:lnTo>
                <a:lnTo>
                  <a:pt x="7999438" y="879938"/>
                </a:lnTo>
                <a:lnTo>
                  <a:pt x="0" y="879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186514"/>
            <a:ext cx="7310966" cy="3838257"/>
          </a:xfrm>
          <a:custGeom>
            <a:avLst/>
            <a:gdLst/>
            <a:ahLst/>
            <a:cxnLst/>
            <a:rect r="r" b="b" t="t" l="l"/>
            <a:pathLst>
              <a:path h="3838257" w="7310966">
                <a:moveTo>
                  <a:pt x="0" y="0"/>
                </a:moveTo>
                <a:lnTo>
                  <a:pt x="7310966" y="0"/>
                </a:lnTo>
                <a:lnTo>
                  <a:pt x="7310966" y="3838257"/>
                </a:lnTo>
                <a:lnTo>
                  <a:pt x="0" y="38382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91967" y="7711376"/>
            <a:ext cx="8467333" cy="2286180"/>
          </a:xfrm>
          <a:custGeom>
            <a:avLst/>
            <a:gdLst/>
            <a:ahLst/>
            <a:cxnLst/>
            <a:rect r="r" b="b" t="t" l="l"/>
            <a:pathLst>
              <a:path h="2286180" w="8467333">
                <a:moveTo>
                  <a:pt x="0" y="0"/>
                </a:moveTo>
                <a:lnTo>
                  <a:pt x="8467333" y="0"/>
                </a:lnTo>
                <a:lnTo>
                  <a:pt x="8467333" y="2286180"/>
                </a:lnTo>
                <a:lnTo>
                  <a:pt x="0" y="22861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6800" y="1249068"/>
            <a:ext cx="4985046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추진 배경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02520" y="2394584"/>
            <a:ext cx="7356666" cy="418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40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최근 재택근무와 화상회의의 확산으로 인해 민감한 정보를 포함한 음성 트래픽의 양이 급격히 증가하고 있습니다.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또한, 생성형 AI 기술의 발전으로 소량의 음성 샘플만으로도 음성을 위·변조할 수 있게 되면서, 개인의 음성 샘플에 대한 보안이 더욱 중요해지고 있습니다.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이러한 환경 속에서, 민감한 음성 정보를 실시간으로 보호하기 위한 보안 통신 솔루션의 필요성과 중요성이 더욱 커지고 있습니다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4331" y="2515263"/>
            <a:ext cx="4326747" cy="6133111"/>
            <a:chOff x="0" y="0"/>
            <a:chExt cx="1403862" cy="1989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862" cy="1989957"/>
            </a:xfrm>
            <a:custGeom>
              <a:avLst/>
              <a:gdLst/>
              <a:ahLst/>
              <a:cxnLst/>
              <a:rect r="r" b="b" t="t" l="l"/>
              <a:pathLst>
                <a:path h="1989957" w="1403862">
                  <a:moveTo>
                    <a:pt x="73530" y="0"/>
                  </a:moveTo>
                  <a:lnTo>
                    <a:pt x="1330332" y="0"/>
                  </a:lnTo>
                  <a:cubicBezTo>
                    <a:pt x="1349834" y="0"/>
                    <a:pt x="1368536" y="7747"/>
                    <a:pt x="1382326" y="21536"/>
                  </a:cubicBezTo>
                  <a:cubicBezTo>
                    <a:pt x="1396115" y="35326"/>
                    <a:pt x="1403862" y="54028"/>
                    <a:pt x="1403862" y="73530"/>
                  </a:cubicBezTo>
                  <a:lnTo>
                    <a:pt x="1403862" y="1916428"/>
                  </a:lnTo>
                  <a:cubicBezTo>
                    <a:pt x="1403862" y="1935929"/>
                    <a:pt x="1396115" y="1954631"/>
                    <a:pt x="1382326" y="1968421"/>
                  </a:cubicBezTo>
                  <a:cubicBezTo>
                    <a:pt x="1368536" y="1982211"/>
                    <a:pt x="1349834" y="1989957"/>
                    <a:pt x="1330332" y="1989957"/>
                  </a:cubicBezTo>
                  <a:lnTo>
                    <a:pt x="73530" y="1989957"/>
                  </a:lnTo>
                  <a:cubicBezTo>
                    <a:pt x="54028" y="1989957"/>
                    <a:pt x="35326" y="1982211"/>
                    <a:pt x="21536" y="1968421"/>
                  </a:cubicBezTo>
                  <a:cubicBezTo>
                    <a:pt x="7747" y="1954631"/>
                    <a:pt x="0" y="1935929"/>
                    <a:pt x="0" y="1916428"/>
                  </a:cubicBezTo>
                  <a:lnTo>
                    <a:pt x="0" y="73530"/>
                  </a:lnTo>
                  <a:cubicBezTo>
                    <a:pt x="0" y="54028"/>
                    <a:pt x="7747" y="35326"/>
                    <a:pt x="21536" y="21536"/>
                  </a:cubicBezTo>
                  <a:cubicBezTo>
                    <a:pt x="35326" y="7747"/>
                    <a:pt x="54028" y="0"/>
                    <a:pt x="735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9F121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03862" cy="2028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02920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4331" y="866930"/>
            <a:ext cx="1343533" cy="1343533"/>
          </a:xfrm>
          <a:custGeom>
            <a:avLst/>
            <a:gdLst/>
            <a:ahLst/>
            <a:cxnLst/>
            <a:rect r="r" b="b" t="t" l="l"/>
            <a:pathLst>
              <a:path h="1343533" w="1343533">
                <a:moveTo>
                  <a:pt x="0" y="0"/>
                </a:moveTo>
                <a:lnTo>
                  <a:pt x="1343533" y="0"/>
                </a:lnTo>
                <a:lnTo>
                  <a:pt x="1343533" y="1343533"/>
                </a:lnTo>
                <a:lnTo>
                  <a:pt x="0" y="1343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06323" y="2888336"/>
            <a:ext cx="2222763" cy="3266101"/>
          </a:xfrm>
          <a:custGeom>
            <a:avLst/>
            <a:gdLst/>
            <a:ahLst/>
            <a:cxnLst/>
            <a:rect r="r" b="b" t="t" l="l"/>
            <a:pathLst>
              <a:path h="3266101" w="2222763">
                <a:moveTo>
                  <a:pt x="0" y="0"/>
                </a:moveTo>
                <a:lnTo>
                  <a:pt x="2222763" y="0"/>
                </a:lnTo>
                <a:lnTo>
                  <a:pt x="2222763" y="3266101"/>
                </a:lnTo>
                <a:lnTo>
                  <a:pt x="0" y="3266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749369" y="2515263"/>
            <a:ext cx="4326747" cy="6133111"/>
            <a:chOff x="0" y="0"/>
            <a:chExt cx="1403862" cy="19899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3862" cy="1989957"/>
            </a:xfrm>
            <a:custGeom>
              <a:avLst/>
              <a:gdLst/>
              <a:ahLst/>
              <a:cxnLst/>
              <a:rect r="r" b="b" t="t" l="l"/>
              <a:pathLst>
                <a:path h="1989957" w="1403862">
                  <a:moveTo>
                    <a:pt x="73530" y="0"/>
                  </a:moveTo>
                  <a:lnTo>
                    <a:pt x="1330332" y="0"/>
                  </a:lnTo>
                  <a:cubicBezTo>
                    <a:pt x="1349834" y="0"/>
                    <a:pt x="1368536" y="7747"/>
                    <a:pt x="1382326" y="21536"/>
                  </a:cubicBezTo>
                  <a:cubicBezTo>
                    <a:pt x="1396115" y="35326"/>
                    <a:pt x="1403862" y="54028"/>
                    <a:pt x="1403862" y="73530"/>
                  </a:cubicBezTo>
                  <a:lnTo>
                    <a:pt x="1403862" y="1916428"/>
                  </a:lnTo>
                  <a:cubicBezTo>
                    <a:pt x="1403862" y="1935929"/>
                    <a:pt x="1396115" y="1954631"/>
                    <a:pt x="1382326" y="1968421"/>
                  </a:cubicBezTo>
                  <a:cubicBezTo>
                    <a:pt x="1368536" y="1982211"/>
                    <a:pt x="1349834" y="1989957"/>
                    <a:pt x="1330332" y="1989957"/>
                  </a:cubicBezTo>
                  <a:lnTo>
                    <a:pt x="73530" y="1989957"/>
                  </a:lnTo>
                  <a:cubicBezTo>
                    <a:pt x="54028" y="1989957"/>
                    <a:pt x="35326" y="1982211"/>
                    <a:pt x="21536" y="1968421"/>
                  </a:cubicBezTo>
                  <a:cubicBezTo>
                    <a:pt x="7747" y="1954631"/>
                    <a:pt x="0" y="1935929"/>
                    <a:pt x="0" y="1916428"/>
                  </a:cubicBezTo>
                  <a:lnTo>
                    <a:pt x="0" y="73530"/>
                  </a:lnTo>
                  <a:cubicBezTo>
                    <a:pt x="0" y="54028"/>
                    <a:pt x="7747" y="35326"/>
                    <a:pt x="21536" y="21536"/>
                  </a:cubicBezTo>
                  <a:cubicBezTo>
                    <a:pt x="35326" y="7747"/>
                    <a:pt x="54028" y="0"/>
                    <a:pt x="735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9F1211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03862" cy="2028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654728" y="2888336"/>
            <a:ext cx="2622948" cy="3319287"/>
          </a:xfrm>
          <a:custGeom>
            <a:avLst/>
            <a:gdLst/>
            <a:ahLst/>
            <a:cxnLst/>
            <a:rect r="r" b="b" t="t" l="l"/>
            <a:pathLst>
              <a:path h="3319287" w="2622948">
                <a:moveTo>
                  <a:pt x="0" y="0"/>
                </a:moveTo>
                <a:lnTo>
                  <a:pt x="2622948" y="0"/>
                </a:lnTo>
                <a:lnTo>
                  <a:pt x="2622948" y="3319287"/>
                </a:lnTo>
                <a:lnTo>
                  <a:pt x="0" y="33192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234" t="0" r="-14189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739657" y="2515263"/>
            <a:ext cx="4326747" cy="6133111"/>
            <a:chOff x="0" y="0"/>
            <a:chExt cx="1403862" cy="19899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3862" cy="1989957"/>
            </a:xfrm>
            <a:custGeom>
              <a:avLst/>
              <a:gdLst/>
              <a:ahLst/>
              <a:cxnLst/>
              <a:rect r="r" b="b" t="t" l="l"/>
              <a:pathLst>
                <a:path h="1989957" w="1403862">
                  <a:moveTo>
                    <a:pt x="73530" y="0"/>
                  </a:moveTo>
                  <a:lnTo>
                    <a:pt x="1330332" y="0"/>
                  </a:lnTo>
                  <a:cubicBezTo>
                    <a:pt x="1349834" y="0"/>
                    <a:pt x="1368536" y="7747"/>
                    <a:pt x="1382326" y="21536"/>
                  </a:cubicBezTo>
                  <a:cubicBezTo>
                    <a:pt x="1396115" y="35326"/>
                    <a:pt x="1403862" y="54028"/>
                    <a:pt x="1403862" y="73530"/>
                  </a:cubicBezTo>
                  <a:lnTo>
                    <a:pt x="1403862" y="1916428"/>
                  </a:lnTo>
                  <a:cubicBezTo>
                    <a:pt x="1403862" y="1935929"/>
                    <a:pt x="1396115" y="1954631"/>
                    <a:pt x="1382326" y="1968421"/>
                  </a:cubicBezTo>
                  <a:cubicBezTo>
                    <a:pt x="1368536" y="1982211"/>
                    <a:pt x="1349834" y="1989957"/>
                    <a:pt x="1330332" y="1989957"/>
                  </a:cubicBezTo>
                  <a:lnTo>
                    <a:pt x="73530" y="1989957"/>
                  </a:lnTo>
                  <a:cubicBezTo>
                    <a:pt x="54028" y="1989957"/>
                    <a:pt x="35326" y="1982211"/>
                    <a:pt x="21536" y="1968421"/>
                  </a:cubicBezTo>
                  <a:cubicBezTo>
                    <a:pt x="7747" y="1954631"/>
                    <a:pt x="0" y="1935929"/>
                    <a:pt x="0" y="1916428"/>
                  </a:cubicBezTo>
                  <a:lnTo>
                    <a:pt x="0" y="73530"/>
                  </a:lnTo>
                  <a:cubicBezTo>
                    <a:pt x="0" y="54028"/>
                    <a:pt x="7747" y="35326"/>
                    <a:pt x="21536" y="21536"/>
                  </a:cubicBezTo>
                  <a:cubicBezTo>
                    <a:pt x="35326" y="7747"/>
                    <a:pt x="54028" y="0"/>
                    <a:pt x="735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9F1211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03862" cy="2028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893209" y="2888336"/>
            <a:ext cx="2177400" cy="3266101"/>
          </a:xfrm>
          <a:custGeom>
            <a:avLst/>
            <a:gdLst/>
            <a:ahLst/>
            <a:cxnLst/>
            <a:rect r="r" b="b" t="t" l="l"/>
            <a:pathLst>
              <a:path h="3266101" w="2177400">
                <a:moveTo>
                  <a:pt x="0" y="0"/>
                </a:moveTo>
                <a:lnTo>
                  <a:pt x="2177401" y="0"/>
                </a:lnTo>
                <a:lnTo>
                  <a:pt x="2177401" y="3266101"/>
                </a:lnTo>
                <a:lnTo>
                  <a:pt x="0" y="32661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07378" y="1007797"/>
            <a:ext cx="6378089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 팀 구성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5873" y="6818906"/>
            <a:ext cx="320366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프로젝트 계획 조정 및 감독</a:t>
            </a: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네트워크 설계 및 구축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UDP 기반 통신 프로토콜 설계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60667" y="6799856"/>
            <a:ext cx="2617009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음성 데이터 입출력 구현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Opus 인·디코딩 구현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암호화 모듈 구현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GUI 일부 구현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네트워크 트러블슈팅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698639" y="6799856"/>
            <a:ext cx="2566541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TCP/UDP 통신 소켓 구현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양방향 통신 구현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메인 GUI 구현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서버 구축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코드 통합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8095" y="6351657"/>
            <a:ext cx="291479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9F12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방진혁(PM)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11772" y="6351657"/>
            <a:ext cx="291479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9F12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강승윤(PL)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24510" y="6351657"/>
            <a:ext cx="291479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9F12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고승원(PL)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331" y="797907"/>
            <a:ext cx="1412555" cy="1412555"/>
          </a:xfrm>
          <a:custGeom>
            <a:avLst/>
            <a:gdLst/>
            <a:ahLst/>
            <a:cxnLst/>
            <a:rect r="r" b="b" t="t" l="l"/>
            <a:pathLst>
              <a:path h="1412555" w="1412555">
                <a:moveTo>
                  <a:pt x="0" y="0"/>
                </a:moveTo>
                <a:lnTo>
                  <a:pt x="1412556" y="0"/>
                </a:lnTo>
                <a:lnTo>
                  <a:pt x="1412556" y="1412556"/>
                </a:lnTo>
                <a:lnTo>
                  <a:pt x="0" y="1412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96628" y="4971935"/>
            <a:ext cx="2225045" cy="1451414"/>
          </a:xfrm>
          <a:custGeom>
            <a:avLst/>
            <a:gdLst/>
            <a:ahLst/>
            <a:cxnLst/>
            <a:rect r="r" b="b" t="t" l="l"/>
            <a:pathLst>
              <a:path h="1451414" w="2225045">
                <a:moveTo>
                  <a:pt x="0" y="0"/>
                </a:moveTo>
                <a:lnTo>
                  <a:pt x="2225045" y="0"/>
                </a:lnTo>
                <a:lnTo>
                  <a:pt x="2225045" y="1451414"/>
                </a:lnTo>
                <a:lnTo>
                  <a:pt x="0" y="1451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8707354" y="5514258"/>
            <a:ext cx="1390355" cy="0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8209" y="4601941"/>
            <a:ext cx="1853212" cy="1745780"/>
          </a:xfrm>
          <a:custGeom>
            <a:avLst/>
            <a:gdLst/>
            <a:ahLst/>
            <a:cxnLst/>
            <a:rect r="r" b="b" t="t" l="l"/>
            <a:pathLst>
              <a:path h="1745780" w="1853212">
                <a:moveTo>
                  <a:pt x="0" y="0"/>
                </a:moveTo>
                <a:lnTo>
                  <a:pt x="1853212" y="0"/>
                </a:lnTo>
                <a:lnTo>
                  <a:pt x="1853212" y="1745780"/>
                </a:lnTo>
                <a:lnTo>
                  <a:pt x="0" y="1745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59294" y="4641088"/>
            <a:ext cx="1853807" cy="1746340"/>
          </a:xfrm>
          <a:custGeom>
            <a:avLst/>
            <a:gdLst/>
            <a:ahLst/>
            <a:cxnLst/>
            <a:rect r="r" b="b" t="t" l="l"/>
            <a:pathLst>
              <a:path h="1746340" w="1853807">
                <a:moveTo>
                  <a:pt x="0" y="0"/>
                </a:moveTo>
                <a:lnTo>
                  <a:pt x="1853807" y="0"/>
                </a:lnTo>
                <a:lnTo>
                  <a:pt x="1853807" y="1746340"/>
                </a:lnTo>
                <a:lnTo>
                  <a:pt x="0" y="1746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2455934" y="5533308"/>
            <a:ext cx="1612860" cy="0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6023837" y="4969239"/>
            <a:ext cx="2521015" cy="1355046"/>
          </a:xfrm>
          <a:custGeom>
            <a:avLst/>
            <a:gdLst/>
            <a:ahLst/>
            <a:cxnLst/>
            <a:rect r="r" b="b" t="t" l="l"/>
            <a:pathLst>
              <a:path h="1355046" w="2521015">
                <a:moveTo>
                  <a:pt x="0" y="0"/>
                </a:moveTo>
                <a:lnTo>
                  <a:pt x="2521015" y="0"/>
                </a:lnTo>
                <a:lnTo>
                  <a:pt x="2521015" y="1355046"/>
                </a:lnTo>
                <a:lnTo>
                  <a:pt x="0" y="1355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 flipV="true">
            <a:off x="12455934" y="5930482"/>
            <a:ext cx="1612860" cy="0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8707354" y="5930482"/>
            <a:ext cx="1390355" cy="0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H="true">
            <a:off x="4353095" y="5930482"/>
            <a:ext cx="1537392" cy="0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280539" y="5089766"/>
            <a:ext cx="234599" cy="234599"/>
          </a:xfrm>
          <a:custGeom>
            <a:avLst/>
            <a:gdLst/>
            <a:ahLst/>
            <a:cxnLst/>
            <a:rect r="r" b="b" t="t" l="l"/>
            <a:pathLst>
              <a:path h="234599" w="234599">
                <a:moveTo>
                  <a:pt x="0" y="0"/>
                </a:moveTo>
                <a:lnTo>
                  <a:pt x="234598" y="0"/>
                </a:lnTo>
                <a:lnTo>
                  <a:pt x="234598" y="234599"/>
                </a:lnTo>
                <a:lnTo>
                  <a:pt x="0" y="2345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4353095" y="5514258"/>
            <a:ext cx="1537392" cy="0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577643" y="5106431"/>
            <a:ext cx="240167" cy="240167"/>
          </a:xfrm>
          <a:custGeom>
            <a:avLst/>
            <a:gdLst/>
            <a:ahLst/>
            <a:cxnLst/>
            <a:rect r="r" b="b" t="t" l="l"/>
            <a:pathLst>
              <a:path h="240167" w="240167">
                <a:moveTo>
                  <a:pt x="0" y="0"/>
                </a:moveTo>
                <a:lnTo>
                  <a:pt x="240167" y="0"/>
                </a:lnTo>
                <a:lnTo>
                  <a:pt x="240167" y="240167"/>
                </a:lnTo>
                <a:lnTo>
                  <a:pt x="0" y="2401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78636" y="5101098"/>
            <a:ext cx="235975" cy="235975"/>
          </a:xfrm>
          <a:custGeom>
            <a:avLst/>
            <a:gdLst/>
            <a:ahLst/>
            <a:cxnLst/>
            <a:rect r="r" b="b" t="t" l="l"/>
            <a:pathLst>
              <a:path h="235975" w="235975">
                <a:moveTo>
                  <a:pt x="0" y="0"/>
                </a:moveTo>
                <a:lnTo>
                  <a:pt x="235974" y="0"/>
                </a:lnTo>
                <a:lnTo>
                  <a:pt x="235974" y="235975"/>
                </a:lnTo>
                <a:lnTo>
                  <a:pt x="0" y="235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589096" y="6157585"/>
            <a:ext cx="248140" cy="248140"/>
          </a:xfrm>
          <a:custGeom>
            <a:avLst/>
            <a:gdLst/>
            <a:ahLst/>
            <a:cxnLst/>
            <a:rect r="r" b="b" t="t" l="l"/>
            <a:pathLst>
              <a:path h="248140" w="248140">
                <a:moveTo>
                  <a:pt x="0" y="0"/>
                </a:moveTo>
                <a:lnTo>
                  <a:pt x="248140" y="0"/>
                </a:lnTo>
                <a:lnTo>
                  <a:pt x="248140" y="248140"/>
                </a:lnTo>
                <a:lnTo>
                  <a:pt x="0" y="2481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68100" y="6196874"/>
            <a:ext cx="251481" cy="251481"/>
          </a:xfrm>
          <a:custGeom>
            <a:avLst/>
            <a:gdLst/>
            <a:ahLst/>
            <a:cxnLst/>
            <a:rect r="r" b="b" t="t" l="l"/>
            <a:pathLst>
              <a:path h="251481" w="251481">
                <a:moveTo>
                  <a:pt x="0" y="0"/>
                </a:moveTo>
                <a:lnTo>
                  <a:pt x="251481" y="0"/>
                </a:lnTo>
                <a:lnTo>
                  <a:pt x="251481" y="251481"/>
                </a:lnTo>
                <a:lnTo>
                  <a:pt x="0" y="2514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227455" y="6179452"/>
            <a:ext cx="251280" cy="251280"/>
          </a:xfrm>
          <a:custGeom>
            <a:avLst/>
            <a:gdLst/>
            <a:ahLst/>
            <a:cxnLst/>
            <a:rect r="r" b="b" t="t" l="l"/>
            <a:pathLst>
              <a:path h="251280" w="251280">
                <a:moveTo>
                  <a:pt x="0" y="0"/>
                </a:moveTo>
                <a:lnTo>
                  <a:pt x="251280" y="0"/>
                </a:lnTo>
                <a:lnTo>
                  <a:pt x="251280" y="251279"/>
                </a:lnTo>
                <a:lnTo>
                  <a:pt x="0" y="251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9365" y="788552"/>
            <a:ext cx="6378089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로그인 흐름도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77940" y="2134263"/>
            <a:ext cx="130298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웹 소켓을 이용해 공개키 기반 키 교환을 하고, 서버를 이분화하여 보안을 강화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08617" y="6616549"/>
            <a:ext cx="1311455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b="true" sz="21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로그인 서버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85373" y="6616549"/>
            <a:ext cx="1247555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b="true" sz="21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클라이언트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87280" y="6429199"/>
            <a:ext cx="1311455" cy="73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13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메인 서버</a:t>
            </a:r>
          </a:p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b="true" sz="21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키분배 서버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22585" y="5087781"/>
            <a:ext cx="1175124" cy="23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  <a:spcBef>
                <a:spcPct val="0"/>
              </a:spcBef>
            </a:pPr>
            <a:r>
              <a:rPr lang="en-US" sz="1348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로그인 정보 전달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24356" y="6166357"/>
            <a:ext cx="866831" cy="23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  <a:spcBef>
                <a:spcPct val="0"/>
              </a:spcBef>
            </a:pPr>
            <a:r>
              <a:rPr lang="en-US" sz="1348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세션 키 전달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49574" y="6166357"/>
            <a:ext cx="1531352" cy="23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  <a:spcBef>
                <a:spcPct val="0"/>
              </a:spcBef>
            </a:pPr>
            <a:r>
              <a:rPr lang="en-US" sz="1348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로그인 토큰 /키 받기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20217" y="5072523"/>
            <a:ext cx="664760" cy="23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  <a:spcBef>
                <a:spcPct val="0"/>
              </a:spcBef>
            </a:pPr>
            <a:r>
              <a:rPr lang="en-US" sz="1348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인증 요청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43185" y="6129010"/>
            <a:ext cx="818823" cy="23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  <a:spcBef>
                <a:spcPct val="0"/>
              </a:spcBef>
            </a:pPr>
            <a:r>
              <a:rPr lang="en-US" sz="1348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인증값 전달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80052" y="3243988"/>
            <a:ext cx="2527896" cy="69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7"/>
              </a:lnSpc>
              <a:spcBef>
                <a:spcPct val="0"/>
              </a:spcBef>
            </a:pPr>
            <a:r>
              <a:rPr lang="en-US" sz="3933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로그인 절차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39846" y="5068331"/>
            <a:ext cx="1369387" cy="23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  <a:spcBef>
                <a:spcPct val="0"/>
              </a:spcBef>
            </a:pPr>
            <a:r>
              <a:rPr lang="en-US" sz="1348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로그인 정보 입력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331" y="797907"/>
            <a:ext cx="1412555" cy="1412555"/>
          </a:xfrm>
          <a:custGeom>
            <a:avLst/>
            <a:gdLst/>
            <a:ahLst/>
            <a:cxnLst/>
            <a:rect r="r" b="b" t="t" l="l"/>
            <a:pathLst>
              <a:path h="1412555" w="1412555">
                <a:moveTo>
                  <a:pt x="0" y="0"/>
                </a:moveTo>
                <a:lnTo>
                  <a:pt x="1412556" y="0"/>
                </a:lnTo>
                <a:lnTo>
                  <a:pt x="1412556" y="1412556"/>
                </a:lnTo>
                <a:lnTo>
                  <a:pt x="0" y="1412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1750" y="4116895"/>
            <a:ext cx="1727786" cy="1127048"/>
          </a:xfrm>
          <a:custGeom>
            <a:avLst/>
            <a:gdLst/>
            <a:ahLst/>
            <a:cxnLst/>
            <a:rect r="r" b="b" t="t" l="l"/>
            <a:pathLst>
              <a:path h="1127048" w="1727786">
                <a:moveTo>
                  <a:pt x="0" y="0"/>
                </a:moveTo>
                <a:lnTo>
                  <a:pt x="1727786" y="0"/>
                </a:lnTo>
                <a:lnTo>
                  <a:pt x="1727786" y="1127048"/>
                </a:lnTo>
                <a:lnTo>
                  <a:pt x="0" y="112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33647" y="5030353"/>
            <a:ext cx="2350001" cy="1263125"/>
          </a:xfrm>
          <a:custGeom>
            <a:avLst/>
            <a:gdLst/>
            <a:ahLst/>
            <a:cxnLst/>
            <a:rect r="r" b="b" t="t" l="l"/>
            <a:pathLst>
              <a:path h="1263125" w="2350001">
                <a:moveTo>
                  <a:pt x="0" y="0"/>
                </a:moveTo>
                <a:lnTo>
                  <a:pt x="2350000" y="0"/>
                </a:lnTo>
                <a:lnTo>
                  <a:pt x="2350000" y="1263126"/>
                </a:lnTo>
                <a:lnTo>
                  <a:pt x="0" y="126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71750" y="6303004"/>
            <a:ext cx="1727786" cy="1127048"/>
          </a:xfrm>
          <a:custGeom>
            <a:avLst/>
            <a:gdLst/>
            <a:ahLst/>
            <a:cxnLst/>
            <a:rect r="r" b="b" t="t" l="l"/>
            <a:pathLst>
              <a:path h="1127048" w="1727786">
                <a:moveTo>
                  <a:pt x="0" y="0"/>
                </a:moveTo>
                <a:lnTo>
                  <a:pt x="1727786" y="0"/>
                </a:lnTo>
                <a:lnTo>
                  <a:pt x="1727786" y="1127048"/>
                </a:lnTo>
                <a:lnTo>
                  <a:pt x="0" y="112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9075989" y="6056902"/>
            <a:ext cx="2103714" cy="0"/>
          </a:xfrm>
          <a:prstGeom prst="line">
            <a:avLst/>
          </a:prstGeom>
          <a:ln cap="flat" w="47625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H="true">
            <a:off x="3907620" y="6056902"/>
            <a:ext cx="2282300" cy="918659"/>
          </a:xfrm>
          <a:prstGeom prst="line">
            <a:avLst/>
          </a:prstGeom>
          <a:ln cap="flat" w="47625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046203" y="4328939"/>
            <a:ext cx="241984" cy="241984"/>
          </a:xfrm>
          <a:custGeom>
            <a:avLst/>
            <a:gdLst/>
            <a:ahLst/>
            <a:cxnLst/>
            <a:rect r="r" b="b" t="t" l="l"/>
            <a:pathLst>
              <a:path h="241984" w="241984">
                <a:moveTo>
                  <a:pt x="0" y="0"/>
                </a:moveTo>
                <a:lnTo>
                  <a:pt x="241984" y="0"/>
                </a:lnTo>
                <a:lnTo>
                  <a:pt x="241984" y="241985"/>
                </a:lnTo>
                <a:lnTo>
                  <a:pt x="0" y="2419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78556" y="4905437"/>
            <a:ext cx="249832" cy="249832"/>
          </a:xfrm>
          <a:custGeom>
            <a:avLst/>
            <a:gdLst/>
            <a:ahLst/>
            <a:cxnLst/>
            <a:rect r="r" b="b" t="t" l="l"/>
            <a:pathLst>
              <a:path h="249832" w="249832">
                <a:moveTo>
                  <a:pt x="0" y="0"/>
                </a:moveTo>
                <a:lnTo>
                  <a:pt x="249832" y="0"/>
                </a:lnTo>
                <a:lnTo>
                  <a:pt x="249832" y="249832"/>
                </a:lnTo>
                <a:lnTo>
                  <a:pt x="0" y="2498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3907620" y="4749350"/>
            <a:ext cx="2282300" cy="565893"/>
          </a:xfrm>
          <a:prstGeom prst="line">
            <a:avLst/>
          </a:prstGeom>
          <a:ln cap="flat" w="47625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9075989" y="5315243"/>
            <a:ext cx="2160021" cy="5521"/>
          </a:xfrm>
          <a:prstGeom prst="line">
            <a:avLst/>
          </a:prstGeom>
          <a:ln cap="flat" w="47625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1456134" y="4749350"/>
            <a:ext cx="1849572" cy="1742350"/>
          </a:xfrm>
          <a:custGeom>
            <a:avLst/>
            <a:gdLst/>
            <a:ahLst/>
            <a:cxnLst/>
            <a:rect r="r" b="b" t="t" l="l"/>
            <a:pathLst>
              <a:path h="1742350" w="1849572">
                <a:moveTo>
                  <a:pt x="0" y="0"/>
                </a:moveTo>
                <a:lnTo>
                  <a:pt x="1849572" y="0"/>
                </a:lnTo>
                <a:lnTo>
                  <a:pt x="1849572" y="1742350"/>
                </a:lnTo>
                <a:lnTo>
                  <a:pt x="0" y="1742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66679" y="4749350"/>
            <a:ext cx="1849572" cy="1742350"/>
          </a:xfrm>
          <a:custGeom>
            <a:avLst/>
            <a:gdLst/>
            <a:ahLst/>
            <a:cxnLst/>
            <a:rect r="r" b="b" t="t" l="l"/>
            <a:pathLst>
              <a:path h="1742350" w="1849572">
                <a:moveTo>
                  <a:pt x="0" y="0"/>
                </a:moveTo>
                <a:lnTo>
                  <a:pt x="1849571" y="0"/>
                </a:lnTo>
                <a:lnTo>
                  <a:pt x="1849571" y="1742350"/>
                </a:lnTo>
                <a:lnTo>
                  <a:pt x="0" y="1742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78556" y="6293479"/>
            <a:ext cx="255637" cy="255637"/>
          </a:xfrm>
          <a:custGeom>
            <a:avLst/>
            <a:gdLst/>
            <a:ahLst/>
            <a:cxnLst/>
            <a:rect r="r" b="b" t="t" l="l"/>
            <a:pathLst>
              <a:path h="255637" w="255637">
                <a:moveTo>
                  <a:pt x="0" y="0"/>
                </a:moveTo>
                <a:lnTo>
                  <a:pt x="255637" y="0"/>
                </a:lnTo>
                <a:lnTo>
                  <a:pt x="255637" y="255637"/>
                </a:lnTo>
                <a:lnTo>
                  <a:pt x="0" y="2556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46203" y="7183422"/>
            <a:ext cx="246630" cy="246630"/>
          </a:xfrm>
          <a:custGeom>
            <a:avLst/>
            <a:gdLst/>
            <a:ahLst/>
            <a:cxnLst/>
            <a:rect r="r" b="b" t="t" l="l"/>
            <a:pathLst>
              <a:path h="246630" w="246630">
                <a:moveTo>
                  <a:pt x="0" y="0"/>
                </a:moveTo>
                <a:lnTo>
                  <a:pt x="246629" y="0"/>
                </a:lnTo>
                <a:lnTo>
                  <a:pt x="246629" y="246630"/>
                </a:lnTo>
                <a:lnTo>
                  <a:pt x="0" y="2466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39840" y="895350"/>
            <a:ext cx="6378089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음성 패킷 흐름도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11178" y="2145854"/>
            <a:ext cx="13029806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음성 패킷을 DB 서버까지 가지고 오지 않음으로써 음성 정보를 보호하고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비교적 바깥 쪽에서 처리함으로서 전송 속도를 높임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뿐만 아니라 각 클라이언트의 IP는 서로에게 노출되지 않아 보안 강화에 영향을 줌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20735" y="5267618"/>
            <a:ext cx="1296325" cy="38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6"/>
              </a:lnSpc>
              <a:spcBef>
                <a:spcPct val="0"/>
              </a:spcBef>
            </a:pPr>
            <a:r>
              <a:rPr lang="en-US" b="true" sz="22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클라이언트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22065" y="6594950"/>
            <a:ext cx="2650704" cy="38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6"/>
              </a:lnSpc>
              <a:spcBef>
                <a:spcPct val="0"/>
              </a:spcBef>
            </a:pPr>
            <a:r>
              <a:rPr lang="en-US" b="true" sz="22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메인 서버/ 키분배 서버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68900" y="6594950"/>
            <a:ext cx="1362723" cy="38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6"/>
              </a:lnSpc>
              <a:spcBef>
                <a:spcPct val="0"/>
              </a:spcBef>
            </a:pPr>
            <a:r>
              <a:rPr lang="en-US" b="true" sz="22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로그인 서버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20735" y="7468152"/>
            <a:ext cx="1296325" cy="38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6"/>
              </a:lnSpc>
              <a:spcBef>
                <a:spcPct val="0"/>
              </a:spcBef>
            </a:pPr>
            <a:r>
              <a:rPr lang="en-US" b="true" sz="22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클라이언트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9933" y="6645289"/>
            <a:ext cx="16031033" cy="0"/>
          </a:xfrm>
          <a:prstGeom prst="line">
            <a:avLst/>
          </a:prstGeom>
          <a:ln cap="flat" w="19050">
            <a:solidFill>
              <a:srgbClr val="9F121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4331" y="797907"/>
            <a:ext cx="1412555" cy="1412555"/>
          </a:xfrm>
          <a:custGeom>
            <a:avLst/>
            <a:gdLst/>
            <a:ahLst/>
            <a:cxnLst/>
            <a:rect r="r" b="b" t="t" l="l"/>
            <a:pathLst>
              <a:path h="1412555" w="1412555">
                <a:moveTo>
                  <a:pt x="0" y="0"/>
                </a:moveTo>
                <a:lnTo>
                  <a:pt x="1412556" y="0"/>
                </a:lnTo>
                <a:lnTo>
                  <a:pt x="1412556" y="1412556"/>
                </a:lnTo>
                <a:lnTo>
                  <a:pt x="0" y="1412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955717"/>
            <a:ext cx="2955977" cy="1928206"/>
          </a:xfrm>
          <a:custGeom>
            <a:avLst/>
            <a:gdLst/>
            <a:ahLst/>
            <a:cxnLst/>
            <a:rect r="r" b="b" t="t" l="l"/>
            <a:pathLst>
              <a:path h="1928206" w="2955977">
                <a:moveTo>
                  <a:pt x="0" y="0"/>
                </a:moveTo>
                <a:lnTo>
                  <a:pt x="2955977" y="0"/>
                </a:lnTo>
                <a:lnTo>
                  <a:pt x="2955977" y="1928207"/>
                </a:lnTo>
                <a:lnTo>
                  <a:pt x="0" y="1928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75812" y="3475882"/>
            <a:ext cx="2400015" cy="2408041"/>
          </a:xfrm>
          <a:custGeom>
            <a:avLst/>
            <a:gdLst/>
            <a:ahLst/>
            <a:cxnLst/>
            <a:rect r="r" b="b" t="t" l="l"/>
            <a:pathLst>
              <a:path h="2408041" w="2400015">
                <a:moveTo>
                  <a:pt x="0" y="0"/>
                </a:moveTo>
                <a:lnTo>
                  <a:pt x="2400015" y="0"/>
                </a:lnTo>
                <a:lnTo>
                  <a:pt x="2400015" y="2408042"/>
                </a:lnTo>
                <a:lnTo>
                  <a:pt x="0" y="2408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63342" y="3955717"/>
            <a:ext cx="3087696" cy="1758714"/>
          </a:xfrm>
          <a:custGeom>
            <a:avLst/>
            <a:gdLst/>
            <a:ahLst/>
            <a:cxnLst/>
            <a:rect r="r" b="b" t="t" l="l"/>
            <a:pathLst>
              <a:path h="1758714" w="3087696">
                <a:moveTo>
                  <a:pt x="0" y="0"/>
                </a:moveTo>
                <a:lnTo>
                  <a:pt x="3087696" y="0"/>
                </a:lnTo>
                <a:lnTo>
                  <a:pt x="3087696" y="1758714"/>
                </a:lnTo>
                <a:lnTo>
                  <a:pt x="0" y="1758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16572" y="3311374"/>
            <a:ext cx="2240141" cy="2572550"/>
          </a:xfrm>
          <a:custGeom>
            <a:avLst/>
            <a:gdLst/>
            <a:ahLst/>
            <a:cxnLst/>
            <a:rect r="r" b="b" t="t" l="l"/>
            <a:pathLst>
              <a:path h="2572550" w="2240141">
                <a:moveTo>
                  <a:pt x="0" y="0"/>
                </a:moveTo>
                <a:lnTo>
                  <a:pt x="2240142" y="0"/>
                </a:lnTo>
                <a:lnTo>
                  <a:pt x="2240142" y="2572550"/>
                </a:lnTo>
                <a:lnTo>
                  <a:pt x="0" y="2572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8405449" y="4929341"/>
            <a:ext cx="572770" cy="5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12919246" y="4948391"/>
            <a:ext cx="725852" cy="0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7150114"/>
            <a:ext cx="2955977" cy="1928206"/>
          </a:xfrm>
          <a:custGeom>
            <a:avLst/>
            <a:gdLst/>
            <a:ahLst/>
            <a:cxnLst/>
            <a:rect r="r" b="b" t="t" l="l"/>
            <a:pathLst>
              <a:path h="1928206" w="2955977">
                <a:moveTo>
                  <a:pt x="0" y="0"/>
                </a:moveTo>
                <a:lnTo>
                  <a:pt x="2955977" y="0"/>
                </a:lnTo>
                <a:lnTo>
                  <a:pt x="2955977" y="1928206"/>
                </a:lnTo>
                <a:lnTo>
                  <a:pt x="0" y="1928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55749" y="6978664"/>
            <a:ext cx="2240141" cy="2572550"/>
          </a:xfrm>
          <a:custGeom>
            <a:avLst/>
            <a:gdLst/>
            <a:ahLst/>
            <a:cxnLst/>
            <a:rect r="r" b="b" t="t" l="l"/>
            <a:pathLst>
              <a:path h="2572550" w="2240141">
                <a:moveTo>
                  <a:pt x="0" y="0"/>
                </a:moveTo>
                <a:lnTo>
                  <a:pt x="2240141" y="0"/>
                </a:lnTo>
                <a:lnTo>
                  <a:pt x="2240141" y="2572549"/>
                </a:lnTo>
                <a:lnTo>
                  <a:pt x="0" y="25725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99639" y="7369189"/>
            <a:ext cx="3087696" cy="1758714"/>
          </a:xfrm>
          <a:custGeom>
            <a:avLst/>
            <a:gdLst/>
            <a:ahLst/>
            <a:cxnLst/>
            <a:rect r="r" b="b" t="t" l="l"/>
            <a:pathLst>
              <a:path h="1758714" w="3087696">
                <a:moveTo>
                  <a:pt x="0" y="0"/>
                </a:moveTo>
                <a:lnTo>
                  <a:pt x="3087696" y="0"/>
                </a:lnTo>
                <a:lnTo>
                  <a:pt x="3087696" y="1758713"/>
                </a:lnTo>
                <a:lnTo>
                  <a:pt x="0" y="17587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05442" y="6985149"/>
            <a:ext cx="2251272" cy="2258136"/>
          </a:xfrm>
          <a:custGeom>
            <a:avLst/>
            <a:gdLst/>
            <a:ahLst/>
            <a:cxnLst/>
            <a:rect r="r" b="b" t="t" l="l"/>
            <a:pathLst>
              <a:path h="2258136" w="2251272">
                <a:moveTo>
                  <a:pt x="0" y="0"/>
                </a:moveTo>
                <a:lnTo>
                  <a:pt x="2251272" y="0"/>
                </a:lnTo>
                <a:lnTo>
                  <a:pt x="2251272" y="2258136"/>
                </a:lnTo>
                <a:lnTo>
                  <a:pt x="0" y="22581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39840" y="895350"/>
            <a:ext cx="11576733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클라이언트 프로그램 메커니즘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35263" y="2159484"/>
            <a:ext cx="13029806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라이브러리를 이용해 음성 데이터를 추출 및 재생을 하며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인ㆍ디코딩을 하여 음성 데이터의 크기를 획기적으로 줄이는 동시에 음질 보장을하며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AES-256 암호화 알고리즘을 통해 음성 데이터를 실시간으로 암호화함으로써 보다 안전한 통신 환경을 제공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1305" y="6083949"/>
            <a:ext cx="161076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송신 클라이언트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42010" y="6083949"/>
            <a:ext cx="166761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음성 데이터 추출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72721" y="6066856"/>
            <a:ext cx="11668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패킷 인코딩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03640" y="6066856"/>
            <a:ext cx="6660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암호화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1305" y="9287870"/>
            <a:ext cx="161076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수신 클라이언트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42817" y="9743671"/>
            <a:ext cx="6660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복호화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60081" y="9489852"/>
            <a:ext cx="11668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패킷 디코딩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02833" y="9489852"/>
            <a:ext cx="166761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음성 데이터 재생</a:t>
            </a:r>
          </a:p>
        </p:txBody>
      </p:sp>
      <p:sp>
        <p:nvSpPr>
          <p:cNvPr name="AutoShape 24" id="24"/>
          <p:cNvSpPr/>
          <p:nvPr/>
        </p:nvSpPr>
        <p:spPr>
          <a:xfrm>
            <a:off x="8405450" y="8421309"/>
            <a:ext cx="572770" cy="0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 flipV="true">
            <a:off x="12992135" y="8402259"/>
            <a:ext cx="725852" cy="0"/>
          </a:xfrm>
          <a:prstGeom prst="line">
            <a:avLst/>
          </a:prstGeom>
          <a:ln cap="flat" w="38100">
            <a:solidFill>
              <a:srgbClr val="9F1211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83723"/>
            <a:ext cx="1289954" cy="1289954"/>
          </a:xfrm>
          <a:custGeom>
            <a:avLst/>
            <a:gdLst/>
            <a:ahLst/>
            <a:cxnLst/>
            <a:rect r="r" b="b" t="t" l="l"/>
            <a:pathLst>
              <a:path h="1289954" w="1289954">
                <a:moveTo>
                  <a:pt x="0" y="0"/>
                </a:moveTo>
                <a:lnTo>
                  <a:pt x="1289954" y="0"/>
                </a:lnTo>
                <a:lnTo>
                  <a:pt x="1289954" y="1289954"/>
                </a:lnTo>
                <a:lnTo>
                  <a:pt x="0" y="128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39840" y="360692"/>
            <a:ext cx="6378089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 범위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700" y="2960630"/>
            <a:ext cx="4487200" cy="0"/>
          </a:xfrm>
          <a:prstGeom prst="line">
            <a:avLst/>
          </a:prstGeom>
          <a:ln cap="flat" w="38100">
            <a:solidFill>
              <a:srgbClr val="DCAF5A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5" id="5"/>
          <p:cNvSpPr/>
          <p:nvPr/>
        </p:nvSpPr>
        <p:spPr>
          <a:xfrm flipV="true">
            <a:off x="12988350" y="2960629"/>
            <a:ext cx="4487635" cy="19050"/>
          </a:xfrm>
          <a:prstGeom prst="line">
            <a:avLst/>
          </a:prstGeom>
          <a:ln cap="flat" w="38100">
            <a:solidFill>
              <a:srgbClr val="DCAF5A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6" id="6"/>
          <p:cNvSpPr/>
          <p:nvPr/>
        </p:nvSpPr>
        <p:spPr>
          <a:xfrm>
            <a:off x="7008462" y="2960630"/>
            <a:ext cx="4487241" cy="0"/>
          </a:xfrm>
          <a:prstGeom prst="line">
            <a:avLst/>
          </a:prstGeom>
          <a:ln cap="flat" w="38100">
            <a:solidFill>
              <a:srgbClr val="DCAF5A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7" id="7"/>
          <p:cNvSpPr/>
          <p:nvPr/>
        </p:nvSpPr>
        <p:spPr>
          <a:xfrm flipV="true">
            <a:off x="1028700" y="9201151"/>
            <a:ext cx="4487200" cy="0"/>
          </a:xfrm>
          <a:prstGeom prst="line">
            <a:avLst/>
          </a:prstGeom>
          <a:ln cap="flat" w="38100">
            <a:solidFill>
              <a:srgbClr val="DCAF5A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8" id="8"/>
          <p:cNvSpPr/>
          <p:nvPr/>
        </p:nvSpPr>
        <p:spPr>
          <a:xfrm>
            <a:off x="7008462" y="9201151"/>
            <a:ext cx="4487241" cy="0"/>
          </a:xfrm>
          <a:prstGeom prst="line">
            <a:avLst/>
          </a:prstGeom>
          <a:ln cap="flat" w="38100">
            <a:solidFill>
              <a:srgbClr val="DCAF5A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9" id="9"/>
          <p:cNvSpPr/>
          <p:nvPr/>
        </p:nvSpPr>
        <p:spPr>
          <a:xfrm flipV="true">
            <a:off x="12988350" y="9220200"/>
            <a:ext cx="4487635" cy="19050"/>
          </a:xfrm>
          <a:prstGeom prst="line">
            <a:avLst/>
          </a:prstGeom>
          <a:ln cap="flat" w="38100">
            <a:solidFill>
              <a:srgbClr val="DCAF5A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2318645" y="2205380"/>
            <a:ext cx="201870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📡환경 구축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4918" y="2205380"/>
            <a:ext cx="201870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⚙️기능 구현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31192" y="2205380"/>
            <a:ext cx="290646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🔐 보안 및 암호화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064383"/>
            <a:ext cx="4767339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PyAudio 기반 실시간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      음성 입출력 환경 구축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Opus 코덱 빌드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GUI 기반 사용자 인터페이스 구현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서버-클라이언트 구조 설계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55670" y="4064383"/>
            <a:ext cx="5368731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사용자 로그인 및 통화 대상 선택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AES-CTR 기반 음성 암ㆍ복호화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UDP 기반 음성 패킷</a:t>
            </a: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 실시간 송수신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GUI 환경을 통한 통화 시작, 종료, 대기 등 상태 제어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637583" y="3921508"/>
            <a:ext cx="5032112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하이브리드 암호화 시스템 구축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각 </a:t>
            </a: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세션별 비밀 키 및 Nonce 생성을 통한 PFS(Perfect Forward Secrecy) 구현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각 세션별 비대칭키 메모리에 생성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음성 데이터 </a:t>
            </a:r>
            <a:r>
              <a:rPr lang="en-US" sz="2400">
                <a:solidFill>
                  <a:srgbClr val="9F1211"/>
                </a:solidFill>
                <a:latin typeface="Canva Sans"/>
                <a:ea typeface="Canva Sans"/>
                <a:cs typeface="Canva Sans"/>
                <a:sym typeface="Canva Sans"/>
              </a:rPr>
              <a:t>AES256-CTR 적용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08558"/>
            <a:ext cx="1389457" cy="1389457"/>
          </a:xfrm>
          <a:custGeom>
            <a:avLst/>
            <a:gdLst/>
            <a:ahLst/>
            <a:cxnLst/>
            <a:rect r="r" b="b" t="t" l="l"/>
            <a:pathLst>
              <a:path h="1389457" w="1389457">
                <a:moveTo>
                  <a:pt x="0" y="0"/>
                </a:moveTo>
                <a:lnTo>
                  <a:pt x="1389457" y="0"/>
                </a:lnTo>
                <a:lnTo>
                  <a:pt x="1389457" y="1389458"/>
                </a:lnTo>
                <a:lnTo>
                  <a:pt x="0" y="1389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7427" y="2580656"/>
            <a:ext cx="14957305" cy="6338158"/>
          </a:xfrm>
          <a:custGeom>
            <a:avLst/>
            <a:gdLst/>
            <a:ahLst/>
            <a:cxnLst/>
            <a:rect r="r" b="b" t="t" l="l"/>
            <a:pathLst>
              <a:path h="6338158" w="14957305">
                <a:moveTo>
                  <a:pt x="0" y="0"/>
                </a:moveTo>
                <a:lnTo>
                  <a:pt x="14957305" y="0"/>
                </a:lnTo>
                <a:lnTo>
                  <a:pt x="14957305" y="6338158"/>
                </a:lnTo>
                <a:lnTo>
                  <a:pt x="0" y="6338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39840" y="895350"/>
            <a:ext cx="6378089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 일정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36133" y="-37502"/>
            <a:ext cx="9709333" cy="10324502"/>
            <a:chOff x="0" y="0"/>
            <a:chExt cx="812800" cy="864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64298"/>
            </a:xfrm>
            <a:custGeom>
              <a:avLst/>
              <a:gdLst/>
              <a:ahLst/>
              <a:cxnLst/>
              <a:rect r="r" b="b" t="t" l="l"/>
              <a:pathLst>
                <a:path h="86429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64298"/>
                  </a:lnTo>
                  <a:lnTo>
                    <a:pt x="0" y="864298"/>
                  </a:lnTo>
                  <a:close/>
                </a:path>
              </a:pathLst>
            </a:custGeom>
            <a:blipFill>
              <a:blip r:embed="rId2"/>
              <a:stretch>
                <a:fillRect l="-27617" t="0" r="-2761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837447" y="-5336188"/>
            <a:ext cx="10597371" cy="10597371"/>
          </a:xfrm>
          <a:custGeom>
            <a:avLst/>
            <a:gdLst/>
            <a:ahLst/>
            <a:cxnLst/>
            <a:rect r="r" b="b" t="t" l="l"/>
            <a:pathLst>
              <a:path h="10597371" w="10597371">
                <a:moveTo>
                  <a:pt x="0" y="0"/>
                </a:moveTo>
                <a:lnTo>
                  <a:pt x="10597371" y="0"/>
                </a:lnTo>
                <a:lnTo>
                  <a:pt x="10597371" y="10597372"/>
                </a:lnTo>
                <a:lnTo>
                  <a:pt x="0" y="10597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6720046"/>
            <a:ext cx="9144000" cy="5633452"/>
            <a:chOff x="0" y="0"/>
            <a:chExt cx="2408296" cy="14837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8296" cy="1483707"/>
            </a:xfrm>
            <a:custGeom>
              <a:avLst/>
              <a:gdLst/>
              <a:ahLst/>
              <a:cxnLst/>
              <a:rect r="r" b="b" t="t" l="l"/>
              <a:pathLst>
                <a:path h="148370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483707"/>
                  </a:lnTo>
                  <a:lnTo>
                    <a:pt x="0" y="1483707"/>
                  </a:lnTo>
                  <a:close/>
                </a:path>
              </a:pathLst>
            </a:custGeom>
            <a:gradFill rotWithShape="true">
              <a:gsLst>
                <a:gs pos="0">
                  <a:srgbClr val="9F1211">
                    <a:alpha val="0"/>
                  </a:srgbClr>
                </a:gs>
                <a:gs pos="100000">
                  <a:srgbClr val="9F1211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08296" cy="152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50902" y="4317029"/>
            <a:ext cx="5336689" cy="144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0"/>
              </a:lnSpc>
              <a:spcBef>
                <a:spcPct val="0"/>
              </a:spcBef>
            </a:pPr>
            <a:r>
              <a:rPr lang="en-US" sz="8400">
                <a:solidFill>
                  <a:srgbClr val="F2F2F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수행 내역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5694" y="388255"/>
            <a:ext cx="7545983" cy="9826604"/>
            <a:chOff x="0" y="0"/>
            <a:chExt cx="1987419" cy="25880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7419" cy="2588077"/>
            </a:xfrm>
            <a:custGeom>
              <a:avLst/>
              <a:gdLst/>
              <a:ahLst/>
              <a:cxnLst/>
              <a:rect r="r" b="b" t="t" l="l"/>
              <a:pathLst>
                <a:path h="2588077" w="1987419">
                  <a:moveTo>
                    <a:pt x="52324" y="0"/>
                  </a:moveTo>
                  <a:lnTo>
                    <a:pt x="1935095" y="0"/>
                  </a:lnTo>
                  <a:cubicBezTo>
                    <a:pt x="1948972" y="0"/>
                    <a:pt x="1962281" y="5513"/>
                    <a:pt x="1972094" y="15325"/>
                  </a:cubicBezTo>
                  <a:cubicBezTo>
                    <a:pt x="1981907" y="25138"/>
                    <a:pt x="1987419" y="38447"/>
                    <a:pt x="1987419" y="52324"/>
                  </a:cubicBezTo>
                  <a:lnTo>
                    <a:pt x="1987419" y="2535753"/>
                  </a:lnTo>
                  <a:cubicBezTo>
                    <a:pt x="1987419" y="2564651"/>
                    <a:pt x="1963993" y="2588077"/>
                    <a:pt x="1935095" y="2588077"/>
                  </a:cubicBezTo>
                  <a:lnTo>
                    <a:pt x="52324" y="2588077"/>
                  </a:lnTo>
                  <a:cubicBezTo>
                    <a:pt x="23426" y="2588077"/>
                    <a:pt x="0" y="2564651"/>
                    <a:pt x="0" y="2535753"/>
                  </a:cubicBezTo>
                  <a:lnTo>
                    <a:pt x="0" y="52324"/>
                  </a:lnTo>
                  <a:cubicBezTo>
                    <a:pt x="0" y="23426"/>
                    <a:pt x="23426" y="0"/>
                    <a:pt x="52324" y="0"/>
                  </a:cubicBezTo>
                  <a:close/>
                </a:path>
              </a:pathLst>
            </a:custGeom>
            <a:solidFill>
              <a:srgbClr val="FFEC9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7419" cy="2626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72566" y="3689291"/>
            <a:ext cx="6492240" cy="0"/>
          </a:xfrm>
          <a:prstGeom prst="line">
            <a:avLst/>
          </a:prstGeom>
          <a:ln cap="flat" w="66675">
            <a:solidFill>
              <a:srgbClr val="9F1211">
                <a:alpha val="5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83371" y="2173553"/>
            <a:ext cx="6270630" cy="558528"/>
          </a:xfrm>
          <a:custGeom>
            <a:avLst/>
            <a:gdLst/>
            <a:ahLst/>
            <a:cxnLst/>
            <a:rect r="r" b="b" t="t" l="l"/>
            <a:pathLst>
              <a:path h="558528" w="6270630">
                <a:moveTo>
                  <a:pt x="0" y="0"/>
                </a:moveTo>
                <a:lnTo>
                  <a:pt x="6270630" y="0"/>
                </a:lnTo>
                <a:lnTo>
                  <a:pt x="6270630" y="558528"/>
                </a:lnTo>
                <a:lnTo>
                  <a:pt x="0" y="558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41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3371" y="4189301"/>
            <a:ext cx="6270630" cy="1843511"/>
          </a:xfrm>
          <a:custGeom>
            <a:avLst/>
            <a:gdLst/>
            <a:ahLst/>
            <a:cxnLst/>
            <a:rect r="r" b="b" t="t" l="l"/>
            <a:pathLst>
              <a:path h="1843511" w="6270630">
                <a:moveTo>
                  <a:pt x="0" y="0"/>
                </a:moveTo>
                <a:lnTo>
                  <a:pt x="6270630" y="0"/>
                </a:lnTo>
                <a:lnTo>
                  <a:pt x="6270630" y="1843512"/>
                </a:lnTo>
                <a:lnTo>
                  <a:pt x="0" y="184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3371" y="7032833"/>
            <a:ext cx="6270630" cy="2072496"/>
          </a:xfrm>
          <a:custGeom>
            <a:avLst/>
            <a:gdLst/>
            <a:ahLst/>
            <a:cxnLst/>
            <a:rect r="r" b="b" t="t" l="l"/>
            <a:pathLst>
              <a:path h="2072496" w="6270630">
                <a:moveTo>
                  <a:pt x="0" y="0"/>
                </a:moveTo>
                <a:lnTo>
                  <a:pt x="6270630" y="0"/>
                </a:lnTo>
                <a:lnTo>
                  <a:pt x="6270630" y="2072497"/>
                </a:lnTo>
                <a:lnTo>
                  <a:pt x="0" y="20724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872566" y="6647123"/>
            <a:ext cx="6492240" cy="0"/>
          </a:xfrm>
          <a:prstGeom prst="line">
            <a:avLst/>
          </a:prstGeom>
          <a:ln cap="flat" w="66675">
            <a:solidFill>
              <a:srgbClr val="9F1211">
                <a:alpha val="5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30562" y="815095"/>
            <a:ext cx="967933" cy="967933"/>
          </a:xfrm>
          <a:custGeom>
            <a:avLst/>
            <a:gdLst/>
            <a:ahLst/>
            <a:cxnLst/>
            <a:rect r="r" b="b" t="t" l="l"/>
            <a:pathLst>
              <a:path h="967933" w="967933">
                <a:moveTo>
                  <a:pt x="0" y="0"/>
                </a:moveTo>
                <a:lnTo>
                  <a:pt x="967933" y="0"/>
                </a:lnTo>
                <a:lnTo>
                  <a:pt x="967933" y="967933"/>
                </a:lnTo>
                <a:lnTo>
                  <a:pt x="0" y="967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196883" y="410364"/>
            <a:ext cx="9927965" cy="9804496"/>
            <a:chOff x="0" y="0"/>
            <a:chExt cx="2614773" cy="25822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14773" cy="2582254"/>
            </a:xfrm>
            <a:custGeom>
              <a:avLst/>
              <a:gdLst/>
              <a:ahLst/>
              <a:cxnLst/>
              <a:rect r="r" b="b" t="t" l="l"/>
              <a:pathLst>
                <a:path h="2582254" w="2614773">
                  <a:moveTo>
                    <a:pt x="39770" y="0"/>
                  </a:moveTo>
                  <a:lnTo>
                    <a:pt x="2575003" y="0"/>
                  </a:lnTo>
                  <a:cubicBezTo>
                    <a:pt x="2596967" y="0"/>
                    <a:pt x="2614773" y="17806"/>
                    <a:pt x="2614773" y="39770"/>
                  </a:cubicBezTo>
                  <a:lnTo>
                    <a:pt x="2614773" y="2542484"/>
                  </a:lnTo>
                  <a:cubicBezTo>
                    <a:pt x="2614773" y="2564448"/>
                    <a:pt x="2596967" y="2582254"/>
                    <a:pt x="2575003" y="2582254"/>
                  </a:cubicBezTo>
                  <a:lnTo>
                    <a:pt x="39770" y="2582254"/>
                  </a:lnTo>
                  <a:cubicBezTo>
                    <a:pt x="17806" y="2582254"/>
                    <a:pt x="0" y="2564448"/>
                    <a:pt x="0" y="2542484"/>
                  </a:cubicBezTo>
                  <a:lnTo>
                    <a:pt x="0" y="39770"/>
                  </a:lnTo>
                  <a:cubicBezTo>
                    <a:pt x="0" y="17806"/>
                    <a:pt x="17806" y="0"/>
                    <a:pt x="39770" y="0"/>
                  </a:cubicBezTo>
                  <a:close/>
                </a:path>
              </a:pathLst>
            </a:custGeom>
            <a:solidFill>
              <a:srgbClr val="FFEC9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14773" cy="2620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381934" y="3280588"/>
            <a:ext cx="9557864" cy="492827"/>
          </a:xfrm>
          <a:custGeom>
            <a:avLst/>
            <a:gdLst/>
            <a:ahLst/>
            <a:cxnLst/>
            <a:rect r="r" b="b" t="t" l="l"/>
            <a:pathLst>
              <a:path h="492827" w="9557864">
                <a:moveTo>
                  <a:pt x="0" y="0"/>
                </a:moveTo>
                <a:lnTo>
                  <a:pt x="9557864" y="0"/>
                </a:lnTo>
                <a:lnTo>
                  <a:pt x="9557864" y="492828"/>
                </a:lnTo>
                <a:lnTo>
                  <a:pt x="0" y="4928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505759" y="805570"/>
            <a:ext cx="1084160" cy="1084160"/>
          </a:xfrm>
          <a:custGeom>
            <a:avLst/>
            <a:gdLst/>
            <a:ahLst/>
            <a:cxnLst/>
            <a:rect r="r" b="b" t="t" l="l"/>
            <a:pathLst>
              <a:path h="1084160" w="1084160">
                <a:moveTo>
                  <a:pt x="0" y="0"/>
                </a:moveTo>
                <a:lnTo>
                  <a:pt x="1084159" y="0"/>
                </a:lnTo>
                <a:lnTo>
                  <a:pt x="1084159" y="1084160"/>
                </a:lnTo>
                <a:lnTo>
                  <a:pt x="0" y="10841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05759" y="7349232"/>
            <a:ext cx="8938592" cy="698394"/>
          </a:xfrm>
          <a:custGeom>
            <a:avLst/>
            <a:gdLst/>
            <a:ahLst/>
            <a:cxnLst/>
            <a:rect r="r" b="b" t="t" l="l"/>
            <a:pathLst>
              <a:path h="698394" w="8938592">
                <a:moveTo>
                  <a:pt x="0" y="0"/>
                </a:moveTo>
                <a:lnTo>
                  <a:pt x="8938592" y="0"/>
                </a:lnTo>
                <a:lnTo>
                  <a:pt x="8938592" y="698395"/>
                </a:lnTo>
                <a:lnTo>
                  <a:pt x="0" y="6983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045" r="0" b="-104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18794" y="805349"/>
            <a:ext cx="6378089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음성 데이터 처리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2913" y="2967322"/>
            <a:ext cx="328032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오디오 스트림 입력 초기화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8746" y="6096604"/>
            <a:ext cx="593124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마이크로부터 실시간 오디오 입력을 받은 스트림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0708" y="9324405"/>
            <a:ext cx="578271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오디오 입력 콜백 함수 큐(self.buff)에 저장)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18543" y="853937"/>
            <a:ext cx="6378089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인·디코딩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12158" y="4074357"/>
            <a:ext cx="322763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Opus코덱 송신 측 인코딩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15209" y="8195370"/>
            <a:ext cx="322153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Opus코덱 수신 측 디코딩</a:t>
            </a:r>
          </a:p>
        </p:txBody>
      </p:sp>
      <p:sp>
        <p:nvSpPr>
          <p:cNvPr name="AutoShape 24" id="24"/>
          <p:cNvSpPr/>
          <p:nvPr/>
        </p:nvSpPr>
        <p:spPr>
          <a:xfrm>
            <a:off x="8258035" y="5637543"/>
            <a:ext cx="9434039" cy="33338"/>
          </a:xfrm>
          <a:prstGeom prst="line">
            <a:avLst/>
          </a:prstGeom>
          <a:ln cap="flat" w="66675">
            <a:solidFill>
              <a:srgbClr val="9F1211">
                <a:alpha val="50980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722" y="354468"/>
            <a:ext cx="7545983" cy="9826604"/>
            <a:chOff x="0" y="0"/>
            <a:chExt cx="1987419" cy="25880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7419" cy="2588077"/>
            </a:xfrm>
            <a:custGeom>
              <a:avLst/>
              <a:gdLst/>
              <a:ahLst/>
              <a:cxnLst/>
              <a:rect r="r" b="b" t="t" l="l"/>
              <a:pathLst>
                <a:path h="2588077" w="1987419">
                  <a:moveTo>
                    <a:pt x="52324" y="0"/>
                  </a:moveTo>
                  <a:lnTo>
                    <a:pt x="1935095" y="0"/>
                  </a:lnTo>
                  <a:cubicBezTo>
                    <a:pt x="1948972" y="0"/>
                    <a:pt x="1962281" y="5513"/>
                    <a:pt x="1972094" y="15325"/>
                  </a:cubicBezTo>
                  <a:cubicBezTo>
                    <a:pt x="1981907" y="25138"/>
                    <a:pt x="1987419" y="38447"/>
                    <a:pt x="1987419" y="52324"/>
                  </a:cubicBezTo>
                  <a:lnTo>
                    <a:pt x="1987419" y="2535753"/>
                  </a:lnTo>
                  <a:cubicBezTo>
                    <a:pt x="1987419" y="2564651"/>
                    <a:pt x="1963993" y="2588077"/>
                    <a:pt x="1935095" y="2588077"/>
                  </a:cubicBezTo>
                  <a:lnTo>
                    <a:pt x="52324" y="2588077"/>
                  </a:lnTo>
                  <a:cubicBezTo>
                    <a:pt x="23426" y="2588077"/>
                    <a:pt x="0" y="2564651"/>
                    <a:pt x="0" y="2535753"/>
                  </a:cubicBezTo>
                  <a:lnTo>
                    <a:pt x="0" y="52324"/>
                  </a:lnTo>
                  <a:cubicBezTo>
                    <a:pt x="0" y="23426"/>
                    <a:pt x="23426" y="0"/>
                    <a:pt x="52324" y="0"/>
                  </a:cubicBezTo>
                  <a:close/>
                </a:path>
              </a:pathLst>
            </a:custGeom>
            <a:solidFill>
              <a:srgbClr val="FFEC9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7419" cy="2626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722829"/>
            <a:ext cx="1309779" cy="1309779"/>
          </a:xfrm>
          <a:custGeom>
            <a:avLst/>
            <a:gdLst/>
            <a:ahLst/>
            <a:cxnLst/>
            <a:rect r="r" b="b" t="t" l="l"/>
            <a:pathLst>
              <a:path h="1309779" w="1309779">
                <a:moveTo>
                  <a:pt x="0" y="0"/>
                </a:moveTo>
                <a:lnTo>
                  <a:pt x="1309779" y="0"/>
                </a:lnTo>
                <a:lnTo>
                  <a:pt x="1309779" y="1309779"/>
                </a:lnTo>
                <a:lnTo>
                  <a:pt x="0" y="1309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272250"/>
            <a:ext cx="6676027" cy="2680842"/>
          </a:xfrm>
          <a:custGeom>
            <a:avLst/>
            <a:gdLst/>
            <a:ahLst/>
            <a:cxnLst/>
            <a:rect r="r" b="b" t="t" l="l"/>
            <a:pathLst>
              <a:path h="2680842" w="6676027">
                <a:moveTo>
                  <a:pt x="0" y="0"/>
                </a:moveTo>
                <a:lnTo>
                  <a:pt x="6676027" y="0"/>
                </a:lnTo>
                <a:lnTo>
                  <a:pt x="6676027" y="2680843"/>
                </a:lnTo>
                <a:lnTo>
                  <a:pt x="0" y="2680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AutoShape 7" id="7"/>
          <p:cNvSpPr/>
          <p:nvPr/>
        </p:nvSpPr>
        <p:spPr>
          <a:xfrm>
            <a:off x="897528" y="5310373"/>
            <a:ext cx="6959262" cy="0"/>
          </a:xfrm>
          <a:prstGeom prst="line">
            <a:avLst/>
          </a:prstGeom>
          <a:ln cap="flat" w="66675">
            <a:solidFill>
              <a:srgbClr val="9F1211">
                <a:alpha val="5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581420" y="354468"/>
            <a:ext cx="9156647" cy="9826604"/>
            <a:chOff x="0" y="0"/>
            <a:chExt cx="2411627" cy="25880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1627" cy="2588077"/>
            </a:xfrm>
            <a:custGeom>
              <a:avLst/>
              <a:gdLst/>
              <a:ahLst/>
              <a:cxnLst/>
              <a:rect r="r" b="b" t="t" l="l"/>
              <a:pathLst>
                <a:path h="2588077" w="2411627">
                  <a:moveTo>
                    <a:pt x="43120" y="0"/>
                  </a:moveTo>
                  <a:lnTo>
                    <a:pt x="2368507" y="0"/>
                  </a:lnTo>
                  <a:cubicBezTo>
                    <a:pt x="2379943" y="0"/>
                    <a:pt x="2390911" y="4543"/>
                    <a:pt x="2398998" y="12630"/>
                  </a:cubicBezTo>
                  <a:cubicBezTo>
                    <a:pt x="2407084" y="20716"/>
                    <a:pt x="2411627" y="31684"/>
                    <a:pt x="2411627" y="43120"/>
                  </a:cubicBezTo>
                  <a:lnTo>
                    <a:pt x="2411627" y="2544956"/>
                  </a:lnTo>
                  <a:cubicBezTo>
                    <a:pt x="2411627" y="2556393"/>
                    <a:pt x="2407084" y="2567361"/>
                    <a:pt x="2398998" y="2575447"/>
                  </a:cubicBezTo>
                  <a:cubicBezTo>
                    <a:pt x="2390911" y="2583534"/>
                    <a:pt x="2379943" y="2588077"/>
                    <a:pt x="2368507" y="2588077"/>
                  </a:cubicBezTo>
                  <a:lnTo>
                    <a:pt x="43120" y="2588077"/>
                  </a:lnTo>
                  <a:cubicBezTo>
                    <a:pt x="19306" y="2588077"/>
                    <a:pt x="0" y="2568771"/>
                    <a:pt x="0" y="2544956"/>
                  </a:cubicBezTo>
                  <a:lnTo>
                    <a:pt x="0" y="43120"/>
                  </a:lnTo>
                  <a:cubicBezTo>
                    <a:pt x="0" y="19306"/>
                    <a:pt x="19306" y="0"/>
                    <a:pt x="43120" y="0"/>
                  </a:cubicBezTo>
                  <a:close/>
                </a:path>
              </a:pathLst>
            </a:custGeom>
            <a:solidFill>
              <a:srgbClr val="FFEC9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11627" cy="2626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884129" y="5645771"/>
            <a:ext cx="8375171" cy="0"/>
          </a:xfrm>
          <a:prstGeom prst="line">
            <a:avLst/>
          </a:prstGeom>
          <a:ln cap="flat" w="66675">
            <a:solidFill>
              <a:srgbClr val="9F1211">
                <a:alpha val="5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5572310"/>
            <a:ext cx="6676027" cy="1157366"/>
          </a:xfrm>
          <a:custGeom>
            <a:avLst/>
            <a:gdLst/>
            <a:ahLst/>
            <a:cxnLst/>
            <a:rect r="r" b="b" t="t" l="l"/>
            <a:pathLst>
              <a:path h="1157366" w="6676027">
                <a:moveTo>
                  <a:pt x="0" y="0"/>
                </a:moveTo>
                <a:lnTo>
                  <a:pt x="6676027" y="0"/>
                </a:lnTo>
                <a:lnTo>
                  <a:pt x="6676027" y="1157366"/>
                </a:lnTo>
                <a:lnTo>
                  <a:pt x="0" y="1157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7340030"/>
            <a:ext cx="6676027" cy="1126408"/>
          </a:xfrm>
          <a:custGeom>
            <a:avLst/>
            <a:gdLst/>
            <a:ahLst/>
            <a:cxnLst/>
            <a:rect r="r" b="b" t="t" l="l"/>
            <a:pathLst>
              <a:path h="1126408" w="6676027">
                <a:moveTo>
                  <a:pt x="0" y="0"/>
                </a:moveTo>
                <a:lnTo>
                  <a:pt x="6676027" y="0"/>
                </a:lnTo>
                <a:lnTo>
                  <a:pt x="6676027" y="1126408"/>
                </a:lnTo>
                <a:lnTo>
                  <a:pt x="0" y="1126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897528" y="7034853"/>
            <a:ext cx="6959262" cy="0"/>
          </a:xfrm>
          <a:prstGeom prst="line">
            <a:avLst/>
          </a:prstGeom>
          <a:ln cap="flat" w="66675">
            <a:solidFill>
              <a:srgbClr val="9F1211">
                <a:alpha val="5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8936272"/>
            <a:ext cx="6676027" cy="226778"/>
          </a:xfrm>
          <a:custGeom>
            <a:avLst/>
            <a:gdLst/>
            <a:ahLst/>
            <a:cxnLst/>
            <a:rect r="r" b="b" t="t" l="l"/>
            <a:pathLst>
              <a:path h="226778" w="6676027">
                <a:moveTo>
                  <a:pt x="0" y="0"/>
                </a:moveTo>
                <a:lnTo>
                  <a:pt x="6676027" y="0"/>
                </a:lnTo>
                <a:lnTo>
                  <a:pt x="6676027" y="226778"/>
                </a:lnTo>
                <a:lnTo>
                  <a:pt x="0" y="226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1778" r="0" b="-9106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9391650"/>
            <a:ext cx="6676027" cy="229497"/>
          </a:xfrm>
          <a:custGeom>
            <a:avLst/>
            <a:gdLst/>
            <a:ahLst/>
            <a:cxnLst/>
            <a:rect r="r" b="b" t="t" l="l"/>
            <a:pathLst>
              <a:path h="229497" w="6676027">
                <a:moveTo>
                  <a:pt x="0" y="0"/>
                </a:moveTo>
                <a:lnTo>
                  <a:pt x="6676027" y="0"/>
                </a:lnTo>
                <a:lnTo>
                  <a:pt x="6676027" y="229497"/>
                </a:lnTo>
                <a:lnTo>
                  <a:pt x="0" y="2294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1778" r="0" b="-3177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884129" y="745482"/>
            <a:ext cx="1287126" cy="1287126"/>
          </a:xfrm>
          <a:custGeom>
            <a:avLst/>
            <a:gdLst/>
            <a:ahLst/>
            <a:cxnLst/>
            <a:rect r="r" b="b" t="t" l="l"/>
            <a:pathLst>
              <a:path h="1287126" w="1287126">
                <a:moveTo>
                  <a:pt x="0" y="0"/>
                </a:moveTo>
                <a:lnTo>
                  <a:pt x="1287126" y="0"/>
                </a:lnTo>
                <a:lnTo>
                  <a:pt x="1287126" y="1287126"/>
                </a:lnTo>
                <a:lnTo>
                  <a:pt x="0" y="12871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72727" y="2000993"/>
            <a:ext cx="3286665" cy="2823865"/>
          </a:xfrm>
          <a:custGeom>
            <a:avLst/>
            <a:gdLst/>
            <a:ahLst/>
            <a:cxnLst/>
            <a:rect r="r" b="b" t="t" l="l"/>
            <a:pathLst>
              <a:path h="2823865" w="3286665">
                <a:moveTo>
                  <a:pt x="0" y="0"/>
                </a:moveTo>
                <a:lnTo>
                  <a:pt x="3286664" y="0"/>
                </a:lnTo>
                <a:lnTo>
                  <a:pt x="3286664" y="2823865"/>
                </a:lnTo>
                <a:lnTo>
                  <a:pt x="0" y="28238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448878" y="2000993"/>
            <a:ext cx="3268027" cy="2823865"/>
          </a:xfrm>
          <a:custGeom>
            <a:avLst/>
            <a:gdLst/>
            <a:ahLst/>
            <a:cxnLst/>
            <a:rect r="r" b="b" t="t" l="l"/>
            <a:pathLst>
              <a:path h="2823865" w="3268027">
                <a:moveTo>
                  <a:pt x="0" y="0"/>
                </a:moveTo>
                <a:lnTo>
                  <a:pt x="3268027" y="0"/>
                </a:lnTo>
                <a:lnTo>
                  <a:pt x="3268027" y="2823865"/>
                </a:lnTo>
                <a:lnTo>
                  <a:pt x="0" y="28238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65" t="0" r="-765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05160" y="6069479"/>
            <a:ext cx="8909168" cy="1971153"/>
          </a:xfrm>
          <a:custGeom>
            <a:avLst/>
            <a:gdLst/>
            <a:ahLst/>
            <a:cxnLst/>
            <a:rect r="r" b="b" t="t" l="l"/>
            <a:pathLst>
              <a:path h="1971153" w="8909168">
                <a:moveTo>
                  <a:pt x="0" y="0"/>
                </a:moveTo>
                <a:lnTo>
                  <a:pt x="8909167" y="0"/>
                </a:lnTo>
                <a:lnTo>
                  <a:pt x="8909167" y="1971153"/>
                </a:lnTo>
                <a:lnTo>
                  <a:pt x="0" y="19711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338479" y="979933"/>
            <a:ext cx="6378089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음성 암호화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38816" y="914400"/>
            <a:ext cx="6378089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키 분배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41152" y="8402428"/>
            <a:ext cx="8996916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로그인 정보 입력 → 메인 서버로 로그인 정보 전달 → 로그인 서버로 정보 전달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41152" y="9134475"/>
            <a:ext cx="8996916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로그인 토큰 추가 / 메인 서버 전달 → 세션 키 추가 / 방화벽 전달 → 로그인 토큰/ 키 받기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72496" y="4929393"/>
            <a:ext cx="128712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로그인 창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54861" y="4929393"/>
            <a:ext cx="145606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회원가입 창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8794" y="460396"/>
            <a:ext cx="17251362" cy="9826604"/>
            <a:chOff x="0" y="0"/>
            <a:chExt cx="4543569" cy="25880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3568" cy="2588077"/>
            </a:xfrm>
            <a:custGeom>
              <a:avLst/>
              <a:gdLst/>
              <a:ahLst/>
              <a:cxnLst/>
              <a:rect r="r" b="b" t="t" l="l"/>
              <a:pathLst>
                <a:path h="2588077" w="4543568">
                  <a:moveTo>
                    <a:pt x="22887" y="0"/>
                  </a:moveTo>
                  <a:lnTo>
                    <a:pt x="4520681" y="0"/>
                  </a:lnTo>
                  <a:cubicBezTo>
                    <a:pt x="4533321" y="0"/>
                    <a:pt x="4543568" y="10247"/>
                    <a:pt x="4543568" y="22887"/>
                  </a:cubicBezTo>
                  <a:lnTo>
                    <a:pt x="4543568" y="2565190"/>
                  </a:lnTo>
                  <a:cubicBezTo>
                    <a:pt x="4543568" y="2571260"/>
                    <a:pt x="4541157" y="2577081"/>
                    <a:pt x="4536865" y="2581373"/>
                  </a:cubicBezTo>
                  <a:cubicBezTo>
                    <a:pt x="4532573" y="2585666"/>
                    <a:pt x="4526751" y="2588077"/>
                    <a:pt x="4520681" y="2588077"/>
                  </a:cubicBezTo>
                  <a:lnTo>
                    <a:pt x="22887" y="2588077"/>
                  </a:lnTo>
                  <a:cubicBezTo>
                    <a:pt x="16817" y="2588077"/>
                    <a:pt x="10996" y="2585666"/>
                    <a:pt x="6704" y="2581373"/>
                  </a:cubicBezTo>
                  <a:cubicBezTo>
                    <a:pt x="2411" y="2577081"/>
                    <a:pt x="0" y="2571260"/>
                    <a:pt x="0" y="2565190"/>
                  </a:cubicBezTo>
                  <a:lnTo>
                    <a:pt x="0" y="22887"/>
                  </a:lnTo>
                  <a:cubicBezTo>
                    <a:pt x="0" y="16817"/>
                    <a:pt x="2411" y="10996"/>
                    <a:pt x="6704" y="6704"/>
                  </a:cubicBezTo>
                  <a:cubicBezTo>
                    <a:pt x="10996" y="2411"/>
                    <a:pt x="16817" y="0"/>
                    <a:pt x="22887" y="0"/>
                  </a:cubicBezTo>
                  <a:close/>
                </a:path>
              </a:pathLst>
            </a:custGeom>
            <a:solidFill>
              <a:srgbClr val="FFEC9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3569" cy="2626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977975" y="797920"/>
            <a:ext cx="0" cy="9020971"/>
          </a:xfrm>
          <a:prstGeom prst="line">
            <a:avLst/>
          </a:prstGeom>
          <a:ln cap="flat" w="66675">
            <a:solidFill>
              <a:srgbClr val="9F1211">
                <a:alpha val="5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74593"/>
            <a:ext cx="1198105" cy="1198105"/>
          </a:xfrm>
          <a:custGeom>
            <a:avLst/>
            <a:gdLst/>
            <a:ahLst/>
            <a:cxnLst/>
            <a:rect r="r" b="b" t="t" l="l"/>
            <a:pathLst>
              <a:path h="1198105" w="1198105">
                <a:moveTo>
                  <a:pt x="0" y="0"/>
                </a:moveTo>
                <a:lnTo>
                  <a:pt x="1198105" y="0"/>
                </a:lnTo>
                <a:lnTo>
                  <a:pt x="1198105" y="1198105"/>
                </a:lnTo>
                <a:lnTo>
                  <a:pt x="0" y="1198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19893" y="9404694"/>
            <a:ext cx="414197" cy="414197"/>
          </a:xfrm>
          <a:custGeom>
            <a:avLst/>
            <a:gdLst/>
            <a:ahLst/>
            <a:cxnLst/>
            <a:rect r="r" b="b" t="t" l="l"/>
            <a:pathLst>
              <a:path h="414197" w="414197">
                <a:moveTo>
                  <a:pt x="0" y="0"/>
                </a:moveTo>
                <a:lnTo>
                  <a:pt x="414197" y="0"/>
                </a:lnTo>
                <a:lnTo>
                  <a:pt x="414197" y="414197"/>
                </a:lnTo>
                <a:lnTo>
                  <a:pt x="0" y="4141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75500" y="9408668"/>
            <a:ext cx="410223" cy="410223"/>
          </a:xfrm>
          <a:custGeom>
            <a:avLst/>
            <a:gdLst/>
            <a:ahLst/>
            <a:cxnLst/>
            <a:rect r="r" b="b" t="t" l="l"/>
            <a:pathLst>
              <a:path h="410223" w="410223">
                <a:moveTo>
                  <a:pt x="0" y="0"/>
                </a:moveTo>
                <a:lnTo>
                  <a:pt x="410223" y="0"/>
                </a:lnTo>
                <a:lnTo>
                  <a:pt x="410223" y="410223"/>
                </a:lnTo>
                <a:lnTo>
                  <a:pt x="0" y="4102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1935" y="2570111"/>
            <a:ext cx="7810965" cy="6117531"/>
          </a:xfrm>
          <a:custGeom>
            <a:avLst/>
            <a:gdLst/>
            <a:ahLst/>
            <a:cxnLst/>
            <a:rect r="r" b="b" t="t" l="l"/>
            <a:pathLst>
              <a:path h="6117531" w="7810965">
                <a:moveTo>
                  <a:pt x="0" y="0"/>
                </a:moveTo>
                <a:lnTo>
                  <a:pt x="7810965" y="0"/>
                </a:lnTo>
                <a:lnTo>
                  <a:pt x="7810965" y="6117531"/>
                </a:lnTo>
                <a:lnTo>
                  <a:pt x="0" y="61175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27608" y="2570111"/>
            <a:ext cx="7282775" cy="6117531"/>
          </a:xfrm>
          <a:custGeom>
            <a:avLst/>
            <a:gdLst/>
            <a:ahLst/>
            <a:cxnLst/>
            <a:rect r="r" b="b" t="t" l="l"/>
            <a:pathLst>
              <a:path h="6117531" w="7282775">
                <a:moveTo>
                  <a:pt x="0" y="0"/>
                </a:moveTo>
                <a:lnTo>
                  <a:pt x="7282775" y="0"/>
                </a:lnTo>
                <a:lnTo>
                  <a:pt x="7282775" y="6117531"/>
                </a:lnTo>
                <a:lnTo>
                  <a:pt x="0" y="61175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38479" y="979933"/>
            <a:ext cx="6378089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9F1211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음성 패킷 전송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44267" y="9393353"/>
            <a:ext cx="32590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클라이언트 A → 메인서버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00023" y="9429636"/>
            <a:ext cx="327196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F121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메인 서버 → 클라이언트 B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9624" y="3489383"/>
            <a:ext cx="2423626" cy="2423626"/>
          </a:xfrm>
          <a:custGeom>
            <a:avLst/>
            <a:gdLst/>
            <a:ahLst/>
            <a:cxnLst/>
            <a:rect r="r" b="b" t="t" l="l"/>
            <a:pathLst>
              <a:path h="2423626" w="2423626">
                <a:moveTo>
                  <a:pt x="0" y="0"/>
                </a:moveTo>
                <a:lnTo>
                  <a:pt x="2423626" y="0"/>
                </a:lnTo>
                <a:lnTo>
                  <a:pt x="2423626" y="2423626"/>
                </a:lnTo>
                <a:lnTo>
                  <a:pt x="0" y="242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23250" y="4016026"/>
            <a:ext cx="2241500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시연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642855" y="6286599"/>
            <a:ext cx="502606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651995" y="3338029"/>
            <a:ext cx="502606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1753846" y="3338029"/>
            <a:ext cx="3898149" cy="134889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7906402" y="4705969"/>
            <a:ext cx="3847444" cy="148873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388281" y="6032025"/>
            <a:ext cx="509148" cy="50914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14344" y="6032025"/>
            <a:ext cx="509148" cy="50914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99272" y="4432345"/>
            <a:ext cx="509148" cy="50914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397422" y="3064405"/>
            <a:ext cx="509148" cy="50914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18129" y="551867"/>
            <a:ext cx="1469917" cy="1469917"/>
          </a:xfrm>
          <a:custGeom>
            <a:avLst/>
            <a:gdLst/>
            <a:ahLst/>
            <a:cxnLst/>
            <a:rect r="r" b="b" t="t" l="l"/>
            <a:pathLst>
              <a:path h="1469917" w="1469917">
                <a:moveTo>
                  <a:pt x="0" y="0"/>
                </a:moveTo>
                <a:lnTo>
                  <a:pt x="1469917" y="0"/>
                </a:lnTo>
                <a:lnTo>
                  <a:pt x="1469917" y="1469917"/>
                </a:lnTo>
                <a:lnTo>
                  <a:pt x="0" y="1469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6767711"/>
            <a:ext cx="3214609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경량 암호 알고리즘 도입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97111" y="3962290"/>
            <a:ext cx="3214609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지연 최소화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8016" y="3000662"/>
            <a:ext cx="3718731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네트워크 상태 모니터링 기능  추가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92796" y="4016265"/>
            <a:ext cx="3214609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GUI 개선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19737" y="4775090"/>
            <a:ext cx="3194357" cy="718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800">
                <a:solidFill>
                  <a:srgbClr val="E3E3E2"/>
                </a:solidFill>
                <a:latin typeface="Montserrat"/>
                <a:ea typeface="Montserrat"/>
                <a:cs typeface="Montserrat"/>
                <a:sym typeface="Montserrat"/>
              </a:rPr>
              <a:t>통한 지연 패킷 보정</a:t>
            </a:r>
          </a:p>
          <a:p>
            <a:pPr algn="ctr">
              <a:lnSpc>
                <a:spcPts val="1494"/>
              </a:lnSpc>
            </a:pPr>
          </a:p>
          <a:p>
            <a:pPr algn="ctr">
              <a:lnSpc>
                <a:spcPts val="1494"/>
              </a:lnSpc>
            </a:pPr>
            <a:r>
              <a:rPr lang="en-US" sz="1800">
                <a:solidFill>
                  <a:srgbClr val="E3E3E2"/>
                </a:solidFill>
                <a:latin typeface="Montserrat"/>
                <a:ea typeface="Montserrat"/>
                <a:cs typeface="Montserrat"/>
                <a:sym typeface="Montserrat"/>
              </a:rPr>
              <a:t>패킷 손실 대체(PLC) 기술 적용</a:t>
            </a:r>
          </a:p>
          <a:p>
            <a:pPr algn="ctr">
              <a:lnSpc>
                <a:spcPts val="132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3846479" y="4613174"/>
            <a:ext cx="3907242" cy="149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8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상태 아이콘 추가</a:t>
            </a:r>
          </a:p>
          <a:p>
            <a:pPr algn="ctr">
              <a:lnSpc>
                <a:spcPts val="2016"/>
              </a:lnSpc>
            </a:pPr>
            <a:r>
              <a:rPr lang="en-US" sz="18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(🟢대기, 🔴통화 중, 🔒암호화)</a:t>
            </a:r>
          </a:p>
          <a:p>
            <a:pPr algn="ctr">
              <a:lnSpc>
                <a:spcPts val="2016"/>
              </a:lnSpc>
            </a:pPr>
          </a:p>
          <a:p>
            <a:pPr algn="ctr">
              <a:lnSpc>
                <a:spcPts val="2016"/>
              </a:lnSpc>
            </a:pPr>
            <a:r>
              <a:rPr lang="en-US" sz="18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사용자 친화적 GUI 구성</a:t>
            </a:r>
          </a:p>
          <a:p>
            <a:pPr algn="ctr">
              <a:lnSpc>
                <a:spcPts val="2016"/>
              </a:lnSpc>
            </a:pPr>
          </a:p>
          <a:p>
            <a:pPr algn="ctr">
              <a:lnSpc>
                <a:spcPts val="2016"/>
              </a:lnSpc>
            </a:pPr>
            <a:r>
              <a:rPr lang="en-US" sz="18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통화 로그 기록 기능 추가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36005" y="618817"/>
            <a:ext cx="6378089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향후 개선 사항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3916" y="7275011"/>
            <a:ext cx="3888260" cy="75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800">
                <a:solidFill>
                  <a:srgbClr val="E3E3E2"/>
                </a:solidFill>
                <a:latin typeface="Montserrat"/>
                <a:ea typeface="Montserrat"/>
                <a:cs typeface="Montserrat"/>
                <a:sym typeface="Montserrat"/>
              </a:rPr>
              <a:t>경량 암호화 알고리즘을 도입하여</a:t>
            </a:r>
          </a:p>
          <a:p>
            <a:pPr algn="ctr">
              <a:lnSpc>
                <a:spcPts val="2016"/>
              </a:lnSpc>
            </a:pPr>
            <a:r>
              <a:rPr lang="en-US" sz="1800">
                <a:solidFill>
                  <a:srgbClr val="E3E3E2"/>
                </a:solidFill>
                <a:latin typeface="Montserrat"/>
                <a:ea typeface="Montserrat"/>
                <a:cs typeface="Montserrat"/>
                <a:sym typeface="Montserrat"/>
              </a:rPr>
              <a:t>(ChaCha20-Poly1305) </a:t>
            </a:r>
          </a:p>
          <a:p>
            <a:pPr algn="ctr">
              <a:lnSpc>
                <a:spcPts val="2016"/>
              </a:lnSpc>
            </a:pPr>
            <a:r>
              <a:rPr lang="en-US" sz="1800">
                <a:solidFill>
                  <a:srgbClr val="E3E3E2"/>
                </a:solidFill>
                <a:latin typeface="Montserrat"/>
                <a:ea typeface="Montserrat"/>
                <a:cs typeface="Montserrat"/>
                <a:sym typeface="Montserrat"/>
              </a:rPr>
              <a:t>타 OS 및 모바일 환경에서 원활히 실행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8016" y="3556652"/>
            <a:ext cx="3844617" cy="75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800">
                <a:solidFill>
                  <a:srgbClr val="E3E3E2"/>
                </a:solidFill>
                <a:latin typeface="Montserrat"/>
                <a:ea typeface="Montserrat"/>
                <a:cs typeface="Montserrat"/>
                <a:sym typeface="Montserrat"/>
              </a:rPr>
              <a:t>트래픽 수집 및 분석 모듈 추가하여</a:t>
            </a:r>
          </a:p>
          <a:p>
            <a:pPr algn="ctr">
              <a:lnSpc>
                <a:spcPts val="2016"/>
              </a:lnSpc>
            </a:pPr>
            <a:r>
              <a:rPr lang="en-US" sz="1800">
                <a:solidFill>
                  <a:srgbClr val="E3E3E2"/>
                </a:solidFill>
                <a:latin typeface="Montserrat"/>
                <a:ea typeface="Montserrat"/>
                <a:cs typeface="Montserrat"/>
                <a:sym typeface="Montserrat"/>
              </a:rPr>
              <a:t>모니터링 대시보드 구현</a:t>
            </a:r>
          </a:p>
          <a:p>
            <a:pPr algn="ctr">
              <a:lnSpc>
                <a:spcPts val="2016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937985" y="4446732"/>
            <a:ext cx="2973735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타임스탬프 및 지터 버퍼 도입을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9F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61066" y="-4396753"/>
            <a:ext cx="8793505" cy="879350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F121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23567" y="1188646"/>
            <a:ext cx="3408051" cy="340805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945" y="12945"/>
              <a:ext cx="786910" cy="786910"/>
            </a:xfrm>
            <a:custGeom>
              <a:avLst/>
              <a:gdLst/>
              <a:ahLst/>
              <a:cxnLst/>
              <a:rect r="r" b="b" t="t" l="l"/>
              <a:pathLst>
                <a:path h="786910" w="786910">
                  <a:moveTo>
                    <a:pt x="422368" y="15968"/>
                  </a:moveTo>
                  <a:lnTo>
                    <a:pt x="770942" y="364542"/>
                  </a:lnTo>
                  <a:cubicBezTo>
                    <a:pt x="786910" y="380510"/>
                    <a:pt x="786910" y="406400"/>
                    <a:pt x="770942" y="422368"/>
                  </a:cubicBezTo>
                  <a:lnTo>
                    <a:pt x="422368" y="770942"/>
                  </a:lnTo>
                  <a:cubicBezTo>
                    <a:pt x="406400" y="786910"/>
                    <a:pt x="380510" y="786910"/>
                    <a:pt x="364542" y="770942"/>
                  </a:cubicBezTo>
                  <a:lnTo>
                    <a:pt x="15968" y="422368"/>
                  </a:lnTo>
                  <a:cubicBezTo>
                    <a:pt x="0" y="406400"/>
                    <a:pt x="0" y="380510"/>
                    <a:pt x="15968" y="364542"/>
                  </a:cubicBezTo>
                  <a:lnTo>
                    <a:pt x="364542" y="15968"/>
                  </a:lnTo>
                  <a:cubicBezTo>
                    <a:pt x="380510" y="0"/>
                    <a:pt x="406400" y="0"/>
                    <a:pt x="422368" y="15968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  <a:r>
                <a:rPr lang="en-US" sz="27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보안성 향상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78271" y="557480"/>
            <a:ext cx="6378089" cy="12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6"/>
              </a:lnSpc>
              <a:spcBef>
                <a:spcPct val="0"/>
              </a:spcBef>
            </a:pPr>
            <a:r>
              <a:rPr lang="en-US" sz="7025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기대효과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67316" y="3107708"/>
            <a:ext cx="3408051" cy="340805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945" y="12945"/>
              <a:ext cx="786910" cy="786910"/>
            </a:xfrm>
            <a:custGeom>
              <a:avLst/>
              <a:gdLst/>
              <a:ahLst/>
              <a:cxnLst/>
              <a:rect r="r" b="b" t="t" l="l"/>
              <a:pathLst>
                <a:path h="786910" w="786910">
                  <a:moveTo>
                    <a:pt x="422368" y="15968"/>
                  </a:moveTo>
                  <a:lnTo>
                    <a:pt x="770942" y="364542"/>
                  </a:lnTo>
                  <a:cubicBezTo>
                    <a:pt x="786910" y="380510"/>
                    <a:pt x="786910" y="406400"/>
                    <a:pt x="770942" y="422368"/>
                  </a:cubicBezTo>
                  <a:lnTo>
                    <a:pt x="422368" y="770942"/>
                  </a:lnTo>
                  <a:cubicBezTo>
                    <a:pt x="406400" y="786910"/>
                    <a:pt x="380510" y="786910"/>
                    <a:pt x="364542" y="770942"/>
                  </a:cubicBezTo>
                  <a:lnTo>
                    <a:pt x="15968" y="422368"/>
                  </a:lnTo>
                  <a:cubicBezTo>
                    <a:pt x="0" y="406400"/>
                    <a:pt x="0" y="380510"/>
                    <a:pt x="15968" y="364542"/>
                  </a:cubicBezTo>
                  <a:lnTo>
                    <a:pt x="364542" y="15968"/>
                  </a:lnTo>
                  <a:cubicBezTo>
                    <a:pt x="380510" y="0"/>
                    <a:pt x="406400" y="0"/>
                    <a:pt x="422368" y="15968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  <a:r>
                <a:rPr lang="en-US" sz="27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사용자 중심 </a:t>
              </a:r>
            </a:p>
            <a:p>
              <a:pPr algn="ctr">
                <a:lnSpc>
                  <a:spcPts val="3024"/>
                </a:lnSpc>
              </a:pPr>
              <a:r>
                <a:rPr lang="en-US" sz="27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인터페이스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14204" y="3107708"/>
            <a:ext cx="3408051" cy="340805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945" y="12945"/>
              <a:ext cx="786910" cy="786910"/>
            </a:xfrm>
            <a:custGeom>
              <a:avLst/>
              <a:gdLst/>
              <a:ahLst/>
              <a:cxnLst/>
              <a:rect r="r" b="b" t="t" l="l"/>
              <a:pathLst>
                <a:path h="786910" w="786910">
                  <a:moveTo>
                    <a:pt x="422368" y="15968"/>
                  </a:moveTo>
                  <a:lnTo>
                    <a:pt x="770942" y="364542"/>
                  </a:lnTo>
                  <a:cubicBezTo>
                    <a:pt x="786910" y="380510"/>
                    <a:pt x="786910" y="406400"/>
                    <a:pt x="770942" y="422368"/>
                  </a:cubicBezTo>
                  <a:lnTo>
                    <a:pt x="422368" y="770942"/>
                  </a:lnTo>
                  <a:cubicBezTo>
                    <a:pt x="406400" y="786910"/>
                    <a:pt x="380510" y="786910"/>
                    <a:pt x="364542" y="770942"/>
                  </a:cubicBezTo>
                  <a:lnTo>
                    <a:pt x="15968" y="422368"/>
                  </a:lnTo>
                  <a:cubicBezTo>
                    <a:pt x="0" y="406400"/>
                    <a:pt x="0" y="380510"/>
                    <a:pt x="15968" y="364542"/>
                  </a:cubicBezTo>
                  <a:lnTo>
                    <a:pt x="364542" y="15968"/>
                  </a:lnTo>
                  <a:cubicBezTo>
                    <a:pt x="380510" y="0"/>
                    <a:pt x="406400" y="0"/>
                    <a:pt x="422368" y="15968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  <a:r>
                <a:rPr lang="en-US" sz="27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경량화된 </a:t>
              </a:r>
            </a:p>
            <a:p>
              <a:pPr algn="ctr">
                <a:lnSpc>
                  <a:spcPts val="3024"/>
                </a:lnSpc>
              </a:pPr>
              <a:r>
                <a:rPr lang="en-US" sz="27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실시간 처리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23567" y="5085048"/>
            <a:ext cx="3408051" cy="340805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945" y="12945"/>
              <a:ext cx="786910" cy="786910"/>
            </a:xfrm>
            <a:custGeom>
              <a:avLst/>
              <a:gdLst/>
              <a:ahLst/>
              <a:cxnLst/>
              <a:rect r="r" b="b" t="t" l="l"/>
              <a:pathLst>
                <a:path h="786910" w="786910">
                  <a:moveTo>
                    <a:pt x="422368" y="15968"/>
                  </a:moveTo>
                  <a:lnTo>
                    <a:pt x="770942" y="364542"/>
                  </a:lnTo>
                  <a:cubicBezTo>
                    <a:pt x="786910" y="380510"/>
                    <a:pt x="786910" y="406400"/>
                    <a:pt x="770942" y="422368"/>
                  </a:cubicBezTo>
                  <a:lnTo>
                    <a:pt x="422368" y="770942"/>
                  </a:lnTo>
                  <a:cubicBezTo>
                    <a:pt x="406400" y="786910"/>
                    <a:pt x="380510" y="786910"/>
                    <a:pt x="364542" y="770942"/>
                  </a:cubicBezTo>
                  <a:lnTo>
                    <a:pt x="15968" y="422368"/>
                  </a:lnTo>
                  <a:cubicBezTo>
                    <a:pt x="0" y="406400"/>
                    <a:pt x="0" y="380510"/>
                    <a:pt x="15968" y="364542"/>
                  </a:cubicBezTo>
                  <a:lnTo>
                    <a:pt x="364542" y="15968"/>
                  </a:lnTo>
                  <a:cubicBezTo>
                    <a:pt x="380510" y="0"/>
                    <a:pt x="406400" y="0"/>
                    <a:pt x="422368" y="15968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  <a:r>
                <a:rPr lang="en-US" sz="27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확장 가능 통신 시스템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36133" y="-37502"/>
            <a:ext cx="9709333" cy="10324502"/>
            <a:chOff x="0" y="0"/>
            <a:chExt cx="812800" cy="864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64298"/>
            </a:xfrm>
            <a:custGeom>
              <a:avLst/>
              <a:gdLst/>
              <a:ahLst/>
              <a:cxnLst/>
              <a:rect r="r" b="b" t="t" l="l"/>
              <a:pathLst>
                <a:path h="86429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64298"/>
                  </a:lnTo>
                  <a:lnTo>
                    <a:pt x="0" y="864298"/>
                  </a:lnTo>
                  <a:close/>
                </a:path>
              </a:pathLst>
            </a:custGeom>
            <a:blipFill>
              <a:blip r:embed="rId2"/>
              <a:stretch>
                <a:fillRect l="-76968" t="0" r="-7696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6720046"/>
            <a:ext cx="9144000" cy="5633452"/>
            <a:chOff x="0" y="0"/>
            <a:chExt cx="2408296" cy="14837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1483707"/>
            </a:xfrm>
            <a:custGeom>
              <a:avLst/>
              <a:gdLst/>
              <a:ahLst/>
              <a:cxnLst/>
              <a:rect r="r" b="b" t="t" l="l"/>
              <a:pathLst>
                <a:path h="148370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483707"/>
                  </a:lnTo>
                  <a:lnTo>
                    <a:pt x="0" y="1483707"/>
                  </a:lnTo>
                  <a:close/>
                </a:path>
              </a:pathLst>
            </a:custGeom>
            <a:gradFill rotWithShape="true">
              <a:gsLst>
                <a:gs pos="0">
                  <a:srgbClr val="9F1211">
                    <a:alpha val="0"/>
                  </a:srgbClr>
                </a:gs>
                <a:gs pos="100000">
                  <a:srgbClr val="9F1211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152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28640" y="-4616368"/>
            <a:ext cx="8793505" cy="87935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6069" y="56069"/>
              <a:ext cx="700663" cy="700663"/>
            </a:xfrm>
            <a:custGeom>
              <a:avLst/>
              <a:gdLst/>
              <a:ahLst/>
              <a:cxnLst/>
              <a:rect r="r" b="b" t="t" l="l"/>
              <a:pathLst>
                <a:path h="700663" w="700663">
                  <a:moveTo>
                    <a:pt x="387565" y="23712"/>
                  </a:moveTo>
                  <a:lnTo>
                    <a:pt x="442413" y="141235"/>
                  </a:lnTo>
                  <a:cubicBezTo>
                    <a:pt x="466465" y="192772"/>
                    <a:pt x="507890" y="234197"/>
                    <a:pt x="559427" y="258249"/>
                  </a:cubicBezTo>
                  <a:lnTo>
                    <a:pt x="676950" y="313097"/>
                  </a:lnTo>
                  <a:cubicBezTo>
                    <a:pt x="691416" y="319849"/>
                    <a:pt x="700662" y="334367"/>
                    <a:pt x="700662" y="350331"/>
                  </a:cubicBezTo>
                  <a:cubicBezTo>
                    <a:pt x="700662" y="366295"/>
                    <a:pt x="691416" y="380813"/>
                    <a:pt x="676950" y="387565"/>
                  </a:cubicBezTo>
                  <a:lnTo>
                    <a:pt x="559427" y="442413"/>
                  </a:lnTo>
                  <a:cubicBezTo>
                    <a:pt x="507890" y="466465"/>
                    <a:pt x="466465" y="507890"/>
                    <a:pt x="442413" y="559427"/>
                  </a:cubicBezTo>
                  <a:lnTo>
                    <a:pt x="387565" y="676950"/>
                  </a:lnTo>
                  <a:cubicBezTo>
                    <a:pt x="380813" y="691416"/>
                    <a:pt x="366295" y="700662"/>
                    <a:pt x="350331" y="700662"/>
                  </a:cubicBezTo>
                  <a:cubicBezTo>
                    <a:pt x="334367" y="700662"/>
                    <a:pt x="319849" y="691416"/>
                    <a:pt x="313097" y="676950"/>
                  </a:cubicBezTo>
                  <a:lnTo>
                    <a:pt x="258249" y="559427"/>
                  </a:lnTo>
                  <a:cubicBezTo>
                    <a:pt x="234197" y="507890"/>
                    <a:pt x="192772" y="466465"/>
                    <a:pt x="141235" y="442413"/>
                  </a:cubicBezTo>
                  <a:lnTo>
                    <a:pt x="23712" y="387565"/>
                  </a:lnTo>
                  <a:cubicBezTo>
                    <a:pt x="9246" y="380813"/>
                    <a:pt x="0" y="366295"/>
                    <a:pt x="0" y="350331"/>
                  </a:cubicBezTo>
                  <a:cubicBezTo>
                    <a:pt x="0" y="334367"/>
                    <a:pt x="9246" y="319849"/>
                    <a:pt x="23712" y="313097"/>
                  </a:cubicBezTo>
                  <a:lnTo>
                    <a:pt x="141235" y="258249"/>
                  </a:lnTo>
                  <a:cubicBezTo>
                    <a:pt x="192772" y="234197"/>
                    <a:pt x="234197" y="192772"/>
                    <a:pt x="258249" y="141235"/>
                  </a:cubicBezTo>
                  <a:lnTo>
                    <a:pt x="313097" y="23712"/>
                  </a:lnTo>
                  <a:cubicBezTo>
                    <a:pt x="319849" y="9246"/>
                    <a:pt x="334367" y="0"/>
                    <a:pt x="350331" y="0"/>
                  </a:cubicBezTo>
                  <a:cubicBezTo>
                    <a:pt x="366295" y="0"/>
                    <a:pt x="380813" y="9246"/>
                    <a:pt x="387565" y="23712"/>
                  </a:cubicBezTo>
                  <a:close/>
                </a:path>
              </a:pathLst>
            </a:custGeom>
            <a:solidFill>
              <a:srgbClr val="9F121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9951" y="3575341"/>
            <a:ext cx="6113790" cy="144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0"/>
              </a:lnSpc>
              <a:spcBef>
                <a:spcPct val="0"/>
              </a:spcBef>
            </a:pPr>
            <a:r>
              <a:rPr lang="en-US" sz="8400">
                <a:solidFill>
                  <a:srgbClr val="F2F2F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79685" y="6876062"/>
            <a:ext cx="3174321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2F2F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DAGqbuWrjAQ</dc:identifier>
  <dcterms:modified xsi:type="dcterms:W3CDTF">2011-08-01T06:04:30Z</dcterms:modified>
  <cp:revision>1</cp:revision>
  <dc:title>Red Minimalist Company Profile Presentation </dc:title>
</cp:coreProperties>
</file>